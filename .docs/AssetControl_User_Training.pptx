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22745"/>
        </a:solidFill>
        <a:effectLst/>
      </p:bgPr>
    </p:bg>
    <p:spTree>
      <p:nvGrpSpPr>
        <p:cNvPr id="1" name=""/>
        <p:cNvGrpSpPr/>
        <p:nvPr/>
      </p:nvGrpSpPr>
      <p:grpSpPr/>
      <p:sp>
        <p:nvSpPr>
          <p:cNvPr id="2" name="Rectangle 1"/>
          <p:cNvSpPr/>
          <p:nvPr/>
        </p:nvSpPr>
        <p:spPr>
          <a:xfrm>
            <a:off x="0" y="0"/>
            <a:ext cx="12191695" cy="201168"/>
          </a:xfrm>
          <a:prstGeom prst="rect">
            <a:avLst/>
          </a:prstGeom>
          <a:solidFill>
            <a:srgbClr val="009196"/>
          </a:solidFill>
          <a:ln>
            <a:solidFill>
              <a:srgbClr val="0091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713232"/>
            <a:ext cx="6400800" cy="502920"/>
          </a:xfrm>
          <a:prstGeom prst="rect">
            <a:avLst/>
          </a:prstGeom>
          <a:noFill/>
        </p:spPr>
        <p:txBody>
          <a:bodyPr wrap="square" lIns="36576" rIns="36576">
            <a:spAutoFit/>
          </a:bodyPr>
          <a:lstStyle/>
          <a:p>
            <a:pPr algn="l"/>
            <a:r>
              <a:rPr sz="2600" b="1">
                <a:solidFill>
                  <a:srgbClr val="FFFFFF"/>
                </a:solidFill>
                <a:latin typeface="Aptos"/>
              </a:rPr>
              <a:t>ASSETCONTROL</a:t>
            </a:r>
          </a:p>
        </p:txBody>
      </p:sp>
      <p:sp>
        <p:nvSpPr>
          <p:cNvPr id="4" name="TextBox 3"/>
          <p:cNvSpPr txBox="1"/>
          <p:nvPr/>
        </p:nvSpPr>
        <p:spPr>
          <a:xfrm>
            <a:off x="731520" y="1417320"/>
            <a:ext cx="9875520" cy="822960"/>
          </a:xfrm>
          <a:prstGeom prst="rect">
            <a:avLst/>
          </a:prstGeom>
          <a:noFill/>
        </p:spPr>
        <p:txBody>
          <a:bodyPr wrap="square" lIns="36576" rIns="36576">
            <a:spAutoFit/>
          </a:bodyPr>
          <a:lstStyle/>
          <a:p>
            <a:pPr algn="l"/>
            <a:r>
              <a:rPr sz="4000" b="1">
                <a:solidFill>
                  <a:srgbClr val="FFFFFF"/>
                </a:solidFill>
                <a:latin typeface="Aptos"/>
              </a:rPr>
              <a:t>User Training</a:t>
            </a:r>
          </a:p>
        </p:txBody>
      </p:sp>
      <p:sp>
        <p:nvSpPr>
          <p:cNvPr id="5" name="TextBox 4"/>
          <p:cNvSpPr txBox="1"/>
          <p:nvPr/>
        </p:nvSpPr>
        <p:spPr>
          <a:xfrm>
            <a:off x="768096" y="2423160"/>
            <a:ext cx="9601200" cy="640080"/>
          </a:xfrm>
          <a:prstGeom prst="rect">
            <a:avLst/>
          </a:prstGeom>
          <a:noFill/>
        </p:spPr>
        <p:txBody>
          <a:bodyPr wrap="square" lIns="36576" rIns="36576">
            <a:spAutoFit/>
          </a:bodyPr>
          <a:lstStyle/>
          <a:p>
            <a:pPr algn="l"/>
            <a:r>
              <a:rPr sz="2000" b="0">
                <a:solidFill>
                  <a:srgbClr val="CBDCEB"/>
                </a:solidFill>
                <a:latin typeface="Aptos"/>
              </a:rPr>
              <a:t>A practical guide to registering, tracking, assigning and transferring company assets</a:t>
            </a:r>
          </a:p>
        </p:txBody>
      </p:sp>
      <p:sp>
        <p:nvSpPr>
          <p:cNvPr id="6" name="Rounded Rectangle 5"/>
          <p:cNvSpPr/>
          <p:nvPr/>
        </p:nvSpPr>
        <p:spPr>
          <a:xfrm>
            <a:off x="777240" y="3794760"/>
            <a:ext cx="10607040" cy="1005840"/>
          </a:xfrm>
          <a:prstGeom prst="roundRect">
            <a:avLst>
              <a:gd name="adj" fmla="val 8000"/>
            </a:avLst>
          </a:prstGeom>
          <a:solidFill>
            <a:srgbClr val="1C395B"/>
          </a:solidFill>
          <a:ln>
            <a:solidFill>
              <a:srgbClr val="3E689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4041648"/>
            <a:ext cx="1280160" cy="274320"/>
          </a:xfrm>
          <a:prstGeom prst="rect">
            <a:avLst/>
          </a:prstGeom>
          <a:noFill/>
        </p:spPr>
        <p:txBody>
          <a:bodyPr wrap="square" lIns="36576" rIns="36576">
            <a:spAutoFit/>
          </a:bodyPr>
          <a:lstStyle/>
          <a:p>
            <a:pPr algn="l"/>
            <a:r>
              <a:rPr sz="1300" b="1">
                <a:solidFill>
                  <a:srgbClr val="EFAE3D"/>
                </a:solidFill>
                <a:latin typeface="Aptos"/>
              </a:rPr>
              <a:t>Outcome</a:t>
            </a:r>
          </a:p>
        </p:txBody>
      </p:sp>
      <p:sp>
        <p:nvSpPr>
          <p:cNvPr id="8" name="TextBox 7"/>
          <p:cNvSpPr txBox="1"/>
          <p:nvPr/>
        </p:nvSpPr>
        <p:spPr>
          <a:xfrm>
            <a:off x="2331720" y="3968496"/>
            <a:ext cx="8458200" cy="411480"/>
          </a:xfrm>
          <a:prstGeom prst="rect">
            <a:avLst/>
          </a:prstGeom>
          <a:noFill/>
        </p:spPr>
        <p:txBody>
          <a:bodyPr wrap="square" lIns="36576" rIns="36576">
            <a:spAutoFit/>
          </a:bodyPr>
          <a:lstStyle/>
          <a:p>
            <a:pPr algn="l"/>
            <a:r>
              <a:rPr sz="1600" b="0">
                <a:solidFill>
                  <a:srgbClr val="FFFFFF"/>
                </a:solidFill>
                <a:latin typeface="Aptos"/>
              </a:rPr>
              <a:t>By the end, you can find an asset, update its record, assign it to a person or site, and verify its history.</a:t>
            </a:r>
          </a:p>
        </p:txBody>
      </p:sp>
      <p:sp>
        <p:nvSpPr>
          <p:cNvPr id="9" name="TextBox 8"/>
          <p:cNvSpPr txBox="1"/>
          <p:nvPr/>
        </p:nvSpPr>
        <p:spPr>
          <a:xfrm>
            <a:off x="777240" y="5961888"/>
            <a:ext cx="7315200" cy="274320"/>
          </a:xfrm>
          <a:prstGeom prst="rect">
            <a:avLst/>
          </a:prstGeom>
          <a:noFill/>
        </p:spPr>
        <p:txBody>
          <a:bodyPr wrap="square" lIns="36576" rIns="36576">
            <a:spAutoFit/>
          </a:bodyPr>
          <a:lstStyle/>
          <a:p>
            <a:pPr algn="l"/>
            <a:r>
              <a:rPr sz="1200" b="0">
                <a:solidFill>
                  <a:srgbClr val="B1C6D8"/>
                </a:solidFill>
                <a:latin typeface="Aptos"/>
              </a:rPr>
              <a:t>For asset custodians, administrators and operational users</a:t>
            </a:r>
          </a:p>
        </p:txBody>
      </p:sp>
      <p:sp>
        <p:nvSpPr>
          <p:cNvPr id="10" name="Rectangle 9"/>
          <p:cNvSpPr/>
          <p:nvPr/>
        </p:nvSpPr>
        <p:spPr>
          <a:xfrm>
            <a:off x="594360" y="6510528"/>
            <a:ext cx="10972800" cy="10972"/>
          </a:xfrm>
          <a:prstGeom prst="rect">
            <a:avLst/>
          </a:prstGeom>
          <a:solidFill>
            <a:srgbClr val="DCE4EB"/>
          </a:solidFill>
          <a:ln>
            <a:solidFill>
              <a:srgbClr val="DCE4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1792" y="6565392"/>
            <a:ext cx="3200400" cy="164592"/>
          </a:xfrm>
          <a:prstGeom prst="rect">
            <a:avLst/>
          </a:prstGeom>
          <a:noFill/>
        </p:spPr>
        <p:txBody>
          <a:bodyPr wrap="square" lIns="36576" rIns="36576">
            <a:spAutoFit/>
          </a:bodyPr>
          <a:lstStyle/>
          <a:p>
            <a:pPr algn="l"/>
            <a:r>
              <a:rPr sz="800" b="0">
                <a:solidFill>
                  <a:srgbClr val="5F6E7D"/>
                </a:solidFill>
                <a:latin typeface="Aptos"/>
              </a:rPr>
              <a:t>AssetControl user training</a:t>
            </a:r>
          </a:p>
        </p:txBody>
      </p:sp>
      <p:sp>
        <p:nvSpPr>
          <p:cNvPr id="12" name="TextBox 11"/>
          <p:cNvSpPr txBox="1"/>
          <p:nvPr/>
        </p:nvSpPr>
        <p:spPr>
          <a:xfrm>
            <a:off x="10972800" y="6547104"/>
            <a:ext cx="548640" cy="182880"/>
          </a:xfrm>
          <a:prstGeom prst="rect">
            <a:avLst/>
          </a:prstGeom>
          <a:noFill/>
        </p:spPr>
        <p:txBody>
          <a:bodyPr wrap="square" lIns="36576" rIns="36576">
            <a:spAutoFit/>
          </a:bodyPr>
          <a:lstStyle/>
          <a:p>
            <a:pPr algn="r"/>
            <a:r>
              <a:rPr sz="900" b="0">
                <a:solidFill>
                  <a:srgbClr val="5F6E7D"/>
                </a:solidFill>
                <a:latin typeface="Aptos"/>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09196"/>
          </a:solidFill>
          <a:ln>
            <a:solidFill>
              <a:srgbClr val="0091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38912"/>
            <a:ext cx="10789920" cy="502920"/>
          </a:xfrm>
          <a:prstGeom prst="rect">
            <a:avLst/>
          </a:prstGeom>
          <a:noFill/>
        </p:spPr>
        <p:txBody>
          <a:bodyPr wrap="square" lIns="36576" rIns="36576">
            <a:spAutoFit/>
          </a:bodyPr>
          <a:lstStyle/>
          <a:p>
            <a:pPr algn="l"/>
            <a:r>
              <a:rPr sz="2700" b="1">
                <a:solidFill>
                  <a:srgbClr val="122745"/>
                </a:solidFill>
                <a:latin typeface="Aptos"/>
              </a:rPr>
              <a:t>What AssetControl helps you manage</a:t>
            </a:r>
          </a:p>
        </p:txBody>
      </p:sp>
      <p:sp>
        <p:nvSpPr>
          <p:cNvPr id="4" name="TextBox 3"/>
          <p:cNvSpPr txBox="1"/>
          <p:nvPr/>
        </p:nvSpPr>
        <p:spPr>
          <a:xfrm>
            <a:off x="621792" y="987552"/>
            <a:ext cx="10698480" cy="347472"/>
          </a:xfrm>
          <a:prstGeom prst="rect">
            <a:avLst/>
          </a:prstGeom>
          <a:noFill/>
        </p:spPr>
        <p:txBody>
          <a:bodyPr wrap="square" lIns="36576" rIns="36576">
            <a:spAutoFit/>
          </a:bodyPr>
          <a:lstStyle/>
          <a:p>
            <a:pPr algn="l"/>
            <a:r>
              <a:rPr sz="1300" b="0">
                <a:solidFill>
                  <a:srgbClr val="5F6E7D"/>
                </a:solidFill>
                <a:latin typeface="Aptos"/>
              </a:rPr>
              <a:t>Use one system to keep the asset record and its movement visible.</a:t>
            </a:r>
          </a:p>
        </p:txBody>
      </p:sp>
      <p:sp>
        <p:nvSpPr>
          <p:cNvPr id="5" name="TextBox 4"/>
          <p:cNvSpPr txBox="1"/>
          <p:nvPr/>
        </p:nvSpPr>
        <p:spPr>
          <a:xfrm>
            <a:off x="10149840" y="475488"/>
            <a:ext cx="1417320" cy="256032"/>
          </a:xfrm>
          <a:prstGeom prst="rect">
            <a:avLst/>
          </a:prstGeom>
          <a:noFill/>
        </p:spPr>
        <p:txBody>
          <a:bodyPr wrap="square" lIns="36576" rIns="36576">
            <a:spAutoFit/>
          </a:bodyPr>
          <a:lstStyle/>
          <a:p>
            <a:pPr algn="r"/>
            <a:r>
              <a:rPr sz="900" b="1">
                <a:solidFill>
                  <a:srgbClr val="009196"/>
                </a:solidFill>
                <a:latin typeface="Aptos"/>
              </a:rPr>
              <a:t>OVERVIEW</a:t>
            </a:r>
          </a:p>
        </p:txBody>
      </p:sp>
      <p:sp>
        <p:nvSpPr>
          <p:cNvPr id="6" name="Rounded Rectangle 5"/>
          <p:cNvSpPr/>
          <p:nvPr/>
        </p:nvSpPr>
        <p:spPr>
          <a:xfrm>
            <a:off x="685800" y="1828800"/>
            <a:ext cx="2148840" cy="2286000"/>
          </a:xfrm>
          <a:prstGeom prst="roundRect">
            <a:avLst>
              <a:gd name="adj" fmla="val 8000"/>
            </a:avLst>
          </a:prstGeom>
          <a:solidFill>
            <a:srgbClr val="F1F6FA"/>
          </a:solidFill>
          <a:ln>
            <a:solidFill>
              <a:srgbClr val="DC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85800" y="1828800"/>
            <a:ext cx="82296" cy="2286000"/>
          </a:xfrm>
          <a:prstGeom prst="rect">
            <a:avLst/>
          </a:prstGeom>
          <a:solidFill>
            <a:srgbClr val="2669AB"/>
          </a:solidFill>
          <a:ln>
            <a:solidFill>
              <a:srgbClr val="2669A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2011680"/>
            <a:ext cx="411480" cy="384048"/>
          </a:xfrm>
          <a:prstGeom prst="rect">
            <a:avLst/>
          </a:prstGeom>
          <a:noFill/>
        </p:spPr>
        <p:txBody>
          <a:bodyPr wrap="square" lIns="36576" rIns="36576">
            <a:spAutoFit/>
          </a:bodyPr>
          <a:lstStyle/>
          <a:p>
            <a:pPr algn="ctr"/>
            <a:r>
              <a:rPr sz="2200" b="1">
                <a:solidFill>
                  <a:srgbClr val="2669AB"/>
                </a:solidFill>
                <a:latin typeface="Aptos"/>
              </a:rPr>
              <a:t>1</a:t>
            </a:r>
          </a:p>
        </p:txBody>
      </p:sp>
      <p:sp>
        <p:nvSpPr>
          <p:cNvPr id="9" name="TextBox 8"/>
          <p:cNvSpPr txBox="1"/>
          <p:nvPr/>
        </p:nvSpPr>
        <p:spPr>
          <a:xfrm>
            <a:off x="1417320" y="1993392"/>
            <a:ext cx="1234440" cy="320040"/>
          </a:xfrm>
          <a:prstGeom prst="rect">
            <a:avLst/>
          </a:prstGeom>
          <a:noFill/>
        </p:spPr>
        <p:txBody>
          <a:bodyPr wrap="square" lIns="36576" rIns="36576">
            <a:spAutoFit/>
          </a:bodyPr>
          <a:lstStyle/>
          <a:p>
            <a:pPr algn="l"/>
            <a:r>
              <a:rPr sz="1600" b="1">
                <a:solidFill>
                  <a:srgbClr val="122745"/>
                </a:solidFill>
                <a:latin typeface="Aptos"/>
              </a:rPr>
              <a:t>Register</a:t>
            </a:r>
          </a:p>
        </p:txBody>
      </p:sp>
      <p:sp>
        <p:nvSpPr>
          <p:cNvPr id="10" name="TextBox 9"/>
          <p:cNvSpPr txBox="1"/>
          <p:nvPr/>
        </p:nvSpPr>
        <p:spPr>
          <a:xfrm>
            <a:off x="914400" y="2468880"/>
            <a:ext cx="1691640" cy="1463040"/>
          </a:xfrm>
          <a:prstGeom prst="rect">
            <a:avLst/>
          </a:prstGeom>
          <a:noFill/>
        </p:spPr>
        <p:txBody>
          <a:bodyPr wrap="square" lIns="36576" rIns="36576">
            <a:spAutoFit/>
          </a:bodyPr>
          <a:lstStyle/>
          <a:p>
            <a:pPr algn="l"/>
            <a:r>
              <a:rPr sz="1300" b="0">
                <a:solidFill>
                  <a:srgbClr val="232D3A"/>
                </a:solidFill>
                <a:latin typeface="Aptos"/>
              </a:rPr>
              <a:t>Create a record for each physical serialized asset.</a:t>
            </a:r>
          </a:p>
        </p:txBody>
      </p:sp>
      <p:sp>
        <p:nvSpPr>
          <p:cNvPr id="11" name="Rounded Rectangle 10"/>
          <p:cNvSpPr/>
          <p:nvPr/>
        </p:nvSpPr>
        <p:spPr>
          <a:xfrm>
            <a:off x="3611880" y="1828800"/>
            <a:ext cx="2148840" cy="2286000"/>
          </a:xfrm>
          <a:prstGeom prst="roundRect">
            <a:avLst>
              <a:gd name="adj" fmla="val 8000"/>
            </a:avLst>
          </a:prstGeom>
          <a:solidFill>
            <a:srgbClr val="F1F6FA"/>
          </a:solidFill>
          <a:ln>
            <a:solidFill>
              <a:srgbClr val="DC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611880" y="1828800"/>
            <a:ext cx="82296" cy="2286000"/>
          </a:xfrm>
          <a:prstGeom prst="rect">
            <a:avLst/>
          </a:prstGeom>
          <a:solidFill>
            <a:srgbClr val="009196"/>
          </a:solidFill>
          <a:ln>
            <a:solidFill>
              <a:srgbClr val="0091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840480" y="2011680"/>
            <a:ext cx="411480" cy="384048"/>
          </a:xfrm>
          <a:prstGeom prst="rect">
            <a:avLst/>
          </a:prstGeom>
          <a:noFill/>
        </p:spPr>
        <p:txBody>
          <a:bodyPr wrap="square" lIns="36576" rIns="36576">
            <a:spAutoFit/>
          </a:bodyPr>
          <a:lstStyle/>
          <a:p>
            <a:pPr algn="ctr"/>
            <a:r>
              <a:rPr sz="2200" b="1">
                <a:solidFill>
                  <a:srgbClr val="009196"/>
                </a:solidFill>
                <a:latin typeface="Aptos"/>
              </a:rPr>
              <a:t>2</a:t>
            </a:r>
          </a:p>
        </p:txBody>
      </p:sp>
      <p:sp>
        <p:nvSpPr>
          <p:cNvPr id="14" name="TextBox 13"/>
          <p:cNvSpPr txBox="1"/>
          <p:nvPr/>
        </p:nvSpPr>
        <p:spPr>
          <a:xfrm>
            <a:off x="4343400" y="1993392"/>
            <a:ext cx="1234440" cy="320040"/>
          </a:xfrm>
          <a:prstGeom prst="rect">
            <a:avLst/>
          </a:prstGeom>
          <a:noFill/>
        </p:spPr>
        <p:txBody>
          <a:bodyPr wrap="square" lIns="36576" rIns="36576">
            <a:spAutoFit/>
          </a:bodyPr>
          <a:lstStyle/>
          <a:p>
            <a:pPr algn="l"/>
            <a:r>
              <a:rPr sz="1600" b="1">
                <a:solidFill>
                  <a:srgbClr val="122745"/>
                </a:solidFill>
                <a:latin typeface="Aptos"/>
              </a:rPr>
              <a:t>Track</a:t>
            </a:r>
          </a:p>
        </p:txBody>
      </p:sp>
      <p:sp>
        <p:nvSpPr>
          <p:cNvPr id="15" name="TextBox 14"/>
          <p:cNvSpPr txBox="1"/>
          <p:nvPr/>
        </p:nvSpPr>
        <p:spPr>
          <a:xfrm>
            <a:off x="3840480" y="2468880"/>
            <a:ext cx="1691640" cy="1463040"/>
          </a:xfrm>
          <a:prstGeom prst="rect">
            <a:avLst/>
          </a:prstGeom>
          <a:noFill/>
        </p:spPr>
        <p:txBody>
          <a:bodyPr wrap="square" lIns="36576" rIns="36576">
            <a:spAutoFit/>
          </a:bodyPr>
          <a:lstStyle/>
          <a:p>
            <a:pPr algn="l"/>
            <a:r>
              <a:rPr sz="1300" b="0">
                <a:solidFill>
                  <a:srgbClr val="232D3A"/>
                </a:solidFill>
                <a:latin typeface="Aptos"/>
              </a:rPr>
              <a:t>Search, filter and review current status and condition.</a:t>
            </a:r>
          </a:p>
        </p:txBody>
      </p:sp>
      <p:sp>
        <p:nvSpPr>
          <p:cNvPr id="16" name="Rounded Rectangle 15"/>
          <p:cNvSpPr/>
          <p:nvPr/>
        </p:nvSpPr>
        <p:spPr>
          <a:xfrm>
            <a:off x="6537960" y="1828800"/>
            <a:ext cx="2148840" cy="2286000"/>
          </a:xfrm>
          <a:prstGeom prst="roundRect">
            <a:avLst>
              <a:gd name="adj" fmla="val 8000"/>
            </a:avLst>
          </a:prstGeom>
          <a:solidFill>
            <a:srgbClr val="F1F6FA"/>
          </a:solidFill>
          <a:ln>
            <a:solidFill>
              <a:srgbClr val="DC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537960" y="1828800"/>
            <a:ext cx="82296" cy="2286000"/>
          </a:xfrm>
          <a:prstGeom prst="rect">
            <a:avLst/>
          </a:prstGeom>
          <a:solidFill>
            <a:srgbClr val="EFAE3D"/>
          </a:solidFill>
          <a:ln>
            <a:solidFill>
              <a:srgbClr val="EFAE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766560" y="2011680"/>
            <a:ext cx="411480" cy="384048"/>
          </a:xfrm>
          <a:prstGeom prst="rect">
            <a:avLst/>
          </a:prstGeom>
          <a:noFill/>
        </p:spPr>
        <p:txBody>
          <a:bodyPr wrap="square" lIns="36576" rIns="36576">
            <a:spAutoFit/>
          </a:bodyPr>
          <a:lstStyle/>
          <a:p>
            <a:pPr algn="ctr"/>
            <a:r>
              <a:rPr sz="2200" b="1">
                <a:solidFill>
                  <a:srgbClr val="EFAE3D"/>
                </a:solidFill>
                <a:latin typeface="Aptos"/>
              </a:rPr>
              <a:t>3</a:t>
            </a:r>
          </a:p>
        </p:txBody>
      </p:sp>
      <p:sp>
        <p:nvSpPr>
          <p:cNvPr id="19" name="TextBox 18"/>
          <p:cNvSpPr txBox="1"/>
          <p:nvPr/>
        </p:nvSpPr>
        <p:spPr>
          <a:xfrm>
            <a:off x="7269480" y="1993392"/>
            <a:ext cx="1234440" cy="320040"/>
          </a:xfrm>
          <a:prstGeom prst="rect">
            <a:avLst/>
          </a:prstGeom>
          <a:noFill/>
        </p:spPr>
        <p:txBody>
          <a:bodyPr wrap="square" lIns="36576" rIns="36576">
            <a:spAutoFit/>
          </a:bodyPr>
          <a:lstStyle/>
          <a:p>
            <a:pPr algn="l"/>
            <a:r>
              <a:rPr sz="1600" b="1">
                <a:solidFill>
                  <a:srgbClr val="122745"/>
                </a:solidFill>
                <a:latin typeface="Aptos"/>
              </a:rPr>
              <a:t>Assign</a:t>
            </a:r>
          </a:p>
        </p:txBody>
      </p:sp>
      <p:sp>
        <p:nvSpPr>
          <p:cNvPr id="20" name="TextBox 19"/>
          <p:cNvSpPr txBox="1"/>
          <p:nvPr/>
        </p:nvSpPr>
        <p:spPr>
          <a:xfrm>
            <a:off x="6766560" y="2468880"/>
            <a:ext cx="1691640" cy="1463040"/>
          </a:xfrm>
          <a:prstGeom prst="rect">
            <a:avLst/>
          </a:prstGeom>
          <a:noFill/>
        </p:spPr>
        <p:txBody>
          <a:bodyPr wrap="square" lIns="36576" rIns="36576">
            <a:spAutoFit/>
          </a:bodyPr>
          <a:lstStyle/>
          <a:p>
            <a:pPr algn="l"/>
            <a:r>
              <a:rPr sz="1300" b="0">
                <a:solidFill>
                  <a:srgbClr val="232D3A"/>
                </a:solidFill>
                <a:latin typeface="Aptos"/>
              </a:rPr>
              <a:t>Record custody by employee or site, with dates.</a:t>
            </a:r>
          </a:p>
        </p:txBody>
      </p:sp>
      <p:sp>
        <p:nvSpPr>
          <p:cNvPr id="21" name="Rounded Rectangle 20"/>
          <p:cNvSpPr/>
          <p:nvPr/>
        </p:nvSpPr>
        <p:spPr>
          <a:xfrm>
            <a:off x="9464040" y="1828800"/>
            <a:ext cx="2148840" cy="2286000"/>
          </a:xfrm>
          <a:prstGeom prst="roundRect">
            <a:avLst>
              <a:gd name="adj" fmla="val 8000"/>
            </a:avLst>
          </a:prstGeom>
          <a:solidFill>
            <a:srgbClr val="F1F6FA"/>
          </a:solidFill>
          <a:ln>
            <a:solidFill>
              <a:srgbClr val="DC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464040" y="1828800"/>
            <a:ext cx="82296" cy="2286000"/>
          </a:xfrm>
          <a:prstGeom prst="rect">
            <a:avLst/>
          </a:prstGeom>
          <a:solidFill>
            <a:srgbClr val="2E8C57"/>
          </a:solidFill>
          <a:ln>
            <a:solidFill>
              <a:srgbClr val="2E8C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692640" y="2011680"/>
            <a:ext cx="411480" cy="384048"/>
          </a:xfrm>
          <a:prstGeom prst="rect">
            <a:avLst/>
          </a:prstGeom>
          <a:noFill/>
        </p:spPr>
        <p:txBody>
          <a:bodyPr wrap="square" lIns="36576" rIns="36576">
            <a:spAutoFit/>
          </a:bodyPr>
          <a:lstStyle/>
          <a:p>
            <a:pPr algn="ctr"/>
            <a:r>
              <a:rPr sz="2200" b="1">
                <a:solidFill>
                  <a:srgbClr val="2E8C57"/>
                </a:solidFill>
                <a:latin typeface="Aptos"/>
              </a:rPr>
              <a:t>4</a:t>
            </a:r>
          </a:p>
        </p:txBody>
      </p:sp>
      <p:sp>
        <p:nvSpPr>
          <p:cNvPr id="24" name="TextBox 23"/>
          <p:cNvSpPr txBox="1"/>
          <p:nvPr/>
        </p:nvSpPr>
        <p:spPr>
          <a:xfrm>
            <a:off x="10195560" y="1993392"/>
            <a:ext cx="1234440" cy="320040"/>
          </a:xfrm>
          <a:prstGeom prst="rect">
            <a:avLst/>
          </a:prstGeom>
          <a:noFill/>
        </p:spPr>
        <p:txBody>
          <a:bodyPr wrap="square" lIns="36576" rIns="36576">
            <a:spAutoFit/>
          </a:bodyPr>
          <a:lstStyle/>
          <a:p>
            <a:pPr algn="l"/>
            <a:r>
              <a:rPr sz="1600" b="1">
                <a:solidFill>
                  <a:srgbClr val="122745"/>
                </a:solidFill>
                <a:latin typeface="Aptos"/>
              </a:rPr>
              <a:t>Prove</a:t>
            </a:r>
          </a:p>
        </p:txBody>
      </p:sp>
      <p:sp>
        <p:nvSpPr>
          <p:cNvPr id="25" name="TextBox 24"/>
          <p:cNvSpPr txBox="1"/>
          <p:nvPr/>
        </p:nvSpPr>
        <p:spPr>
          <a:xfrm>
            <a:off x="9692640" y="2468880"/>
            <a:ext cx="1691640" cy="1463040"/>
          </a:xfrm>
          <a:prstGeom prst="rect">
            <a:avLst/>
          </a:prstGeom>
          <a:noFill/>
        </p:spPr>
        <p:txBody>
          <a:bodyPr wrap="square" lIns="36576" rIns="36576">
            <a:spAutoFit/>
          </a:bodyPr>
          <a:lstStyle/>
          <a:p>
            <a:pPr algn="l"/>
            <a:r>
              <a:rPr sz="1300" b="0">
                <a:solidFill>
                  <a:srgbClr val="232D3A"/>
                </a:solidFill>
                <a:latin typeface="Aptos"/>
              </a:rPr>
              <a:t>Use transfers, history and attachments for traceability.</a:t>
            </a:r>
          </a:p>
        </p:txBody>
      </p:sp>
      <p:sp>
        <p:nvSpPr>
          <p:cNvPr id="26" name="Rounded Rectangle 25"/>
          <p:cNvSpPr/>
          <p:nvPr/>
        </p:nvSpPr>
        <p:spPr>
          <a:xfrm>
            <a:off x="914400" y="4800600"/>
            <a:ext cx="10332720" cy="777240"/>
          </a:xfrm>
          <a:prstGeom prst="roundRect">
            <a:avLst>
              <a:gd name="adj" fmla="val 8000"/>
            </a:avLst>
          </a:prstGeom>
          <a:solidFill>
            <a:srgbClr val="FFF8E6"/>
          </a:solidFill>
          <a:ln>
            <a:solidFill>
              <a:srgbClr val="F5DA9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188720" y="5029200"/>
            <a:ext cx="1371600" cy="228600"/>
          </a:xfrm>
          <a:prstGeom prst="rect">
            <a:avLst/>
          </a:prstGeom>
          <a:noFill/>
        </p:spPr>
        <p:txBody>
          <a:bodyPr wrap="square" lIns="36576" rIns="36576">
            <a:spAutoFit/>
          </a:bodyPr>
          <a:lstStyle/>
          <a:p>
            <a:pPr algn="l"/>
            <a:r>
              <a:rPr sz="1300" b="1">
                <a:solidFill>
                  <a:srgbClr val="976614"/>
                </a:solidFill>
                <a:latin typeface="Aptos"/>
              </a:rPr>
              <a:t>Core principle</a:t>
            </a:r>
          </a:p>
        </p:txBody>
      </p:sp>
      <p:sp>
        <p:nvSpPr>
          <p:cNvPr id="28" name="TextBox 27"/>
          <p:cNvSpPr txBox="1"/>
          <p:nvPr/>
        </p:nvSpPr>
        <p:spPr>
          <a:xfrm>
            <a:off x="2697480" y="4956048"/>
            <a:ext cx="8046720" cy="365760"/>
          </a:xfrm>
          <a:prstGeom prst="rect">
            <a:avLst/>
          </a:prstGeom>
          <a:noFill/>
        </p:spPr>
        <p:txBody>
          <a:bodyPr wrap="square" lIns="36576" rIns="36576">
            <a:spAutoFit/>
          </a:bodyPr>
          <a:lstStyle/>
          <a:p>
            <a:pPr algn="l"/>
            <a:r>
              <a:rPr sz="1600" b="0">
                <a:solidFill>
                  <a:srgbClr val="232D3A"/>
                </a:solidFill>
                <a:latin typeface="Aptos"/>
              </a:rPr>
              <a:t>Keep the asset tag, serial number, status, custodian and location information accurate after every change.</a:t>
            </a:r>
          </a:p>
        </p:txBody>
      </p:sp>
      <p:sp>
        <p:nvSpPr>
          <p:cNvPr id="29" name="Rectangle 28"/>
          <p:cNvSpPr/>
          <p:nvPr/>
        </p:nvSpPr>
        <p:spPr>
          <a:xfrm>
            <a:off x="594360" y="6510528"/>
            <a:ext cx="10972800" cy="10972"/>
          </a:xfrm>
          <a:prstGeom prst="rect">
            <a:avLst/>
          </a:prstGeom>
          <a:solidFill>
            <a:srgbClr val="DCE4EB"/>
          </a:solidFill>
          <a:ln>
            <a:solidFill>
              <a:srgbClr val="DCE4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21792" y="6565392"/>
            <a:ext cx="3200400" cy="164592"/>
          </a:xfrm>
          <a:prstGeom prst="rect">
            <a:avLst/>
          </a:prstGeom>
          <a:noFill/>
        </p:spPr>
        <p:txBody>
          <a:bodyPr wrap="square" lIns="36576" rIns="36576">
            <a:spAutoFit/>
          </a:bodyPr>
          <a:lstStyle/>
          <a:p>
            <a:pPr algn="l"/>
            <a:r>
              <a:rPr sz="800" b="0">
                <a:solidFill>
                  <a:srgbClr val="5F6E7D"/>
                </a:solidFill>
                <a:latin typeface="Aptos"/>
              </a:rPr>
              <a:t>AssetControl user training</a:t>
            </a:r>
          </a:p>
        </p:txBody>
      </p:sp>
      <p:sp>
        <p:nvSpPr>
          <p:cNvPr id="31" name="TextBox 30"/>
          <p:cNvSpPr txBox="1"/>
          <p:nvPr/>
        </p:nvSpPr>
        <p:spPr>
          <a:xfrm>
            <a:off x="10972800" y="6547104"/>
            <a:ext cx="548640" cy="182880"/>
          </a:xfrm>
          <a:prstGeom prst="rect">
            <a:avLst/>
          </a:prstGeom>
          <a:noFill/>
        </p:spPr>
        <p:txBody>
          <a:bodyPr wrap="square" lIns="36576" rIns="36576">
            <a:spAutoFit/>
          </a:bodyPr>
          <a:lstStyle/>
          <a:p>
            <a:pPr algn="r"/>
            <a:r>
              <a:rPr sz="900" b="0">
                <a:solidFill>
                  <a:srgbClr val="5F6E7D"/>
                </a:solidFill>
                <a:latin typeface="Aptos"/>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09196"/>
          </a:solidFill>
          <a:ln>
            <a:solidFill>
              <a:srgbClr val="0091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38912"/>
            <a:ext cx="10789920" cy="502920"/>
          </a:xfrm>
          <a:prstGeom prst="rect">
            <a:avLst/>
          </a:prstGeom>
          <a:noFill/>
        </p:spPr>
        <p:txBody>
          <a:bodyPr wrap="square" lIns="36576" rIns="36576">
            <a:spAutoFit/>
          </a:bodyPr>
          <a:lstStyle/>
          <a:p>
            <a:pPr algn="l"/>
            <a:r>
              <a:rPr sz="2700" b="1">
                <a:solidFill>
                  <a:srgbClr val="122745"/>
                </a:solidFill>
                <a:latin typeface="Aptos"/>
              </a:rPr>
              <a:t>Finding your way around the application</a:t>
            </a:r>
          </a:p>
        </p:txBody>
      </p:sp>
      <p:sp>
        <p:nvSpPr>
          <p:cNvPr id="4" name="TextBox 3"/>
          <p:cNvSpPr txBox="1"/>
          <p:nvPr/>
        </p:nvSpPr>
        <p:spPr>
          <a:xfrm>
            <a:off x="621792" y="987552"/>
            <a:ext cx="10698480" cy="347472"/>
          </a:xfrm>
          <a:prstGeom prst="rect">
            <a:avLst/>
          </a:prstGeom>
          <a:noFill/>
        </p:spPr>
        <p:txBody>
          <a:bodyPr wrap="square" lIns="36576" rIns="36576">
            <a:spAutoFit/>
          </a:bodyPr>
          <a:lstStyle/>
          <a:p>
            <a:pPr algn="l"/>
            <a:r>
              <a:rPr sz="1300" b="0">
                <a:solidFill>
                  <a:srgbClr val="5F6E7D"/>
                </a:solidFill>
                <a:latin typeface="Aptos"/>
              </a:rPr>
              <a:t>The left navigation opens modules; page toolbars provide the main action for the current page.</a:t>
            </a:r>
          </a:p>
        </p:txBody>
      </p:sp>
      <p:sp>
        <p:nvSpPr>
          <p:cNvPr id="5" name="TextBox 4"/>
          <p:cNvSpPr txBox="1"/>
          <p:nvPr/>
        </p:nvSpPr>
        <p:spPr>
          <a:xfrm>
            <a:off x="10149840" y="475488"/>
            <a:ext cx="1417320" cy="256032"/>
          </a:xfrm>
          <a:prstGeom prst="rect">
            <a:avLst/>
          </a:prstGeom>
          <a:noFill/>
        </p:spPr>
        <p:txBody>
          <a:bodyPr wrap="square" lIns="36576" rIns="36576">
            <a:spAutoFit/>
          </a:bodyPr>
          <a:lstStyle/>
          <a:p>
            <a:pPr algn="r"/>
            <a:r>
              <a:rPr sz="900" b="1">
                <a:solidFill>
                  <a:srgbClr val="009196"/>
                </a:solidFill>
                <a:latin typeface="Aptos"/>
              </a:rPr>
              <a:t>NAVIGATION</a:t>
            </a:r>
          </a:p>
        </p:txBody>
      </p:sp>
      <p:sp>
        <p:nvSpPr>
          <p:cNvPr id="6" name="Rounded Rectangle 5"/>
          <p:cNvSpPr/>
          <p:nvPr/>
        </p:nvSpPr>
        <p:spPr>
          <a:xfrm>
            <a:off x="731520" y="1600200"/>
            <a:ext cx="2834640" cy="4297680"/>
          </a:xfrm>
          <a:prstGeom prst="roundRect">
            <a:avLst>
              <a:gd name="adj" fmla="val 8000"/>
            </a:avLst>
          </a:prstGeom>
          <a:solidFill>
            <a:srgbClr val="122745"/>
          </a:solidFill>
          <a:ln>
            <a:solidFill>
              <a:srgbClr val="1227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1901952"/>
            <a:ext cx="2194560" cy="320040"/>
          </a:xfrm>
          <a:prstGeom prst="rect">
            <a:avLst/>
          </a:prstGeom>
          <a:noFill/>
        </p:spPr>
        <p:txBody>
          <a:bodyPr wrap="square" lIns="36576" rIns="36576">
            <a:spAutoFit/>
          </a:bodyPr>
          <a:lstStyle/>
          <a:p>
            <a:pPr algn="l"/>
            <a:r>
              <a:rPr sz="1800" b="1">
                <a:solidFill>
                  <a:srgbClr val="FFFFFF"/>
                </a:solidFill>
                <a:latin typeface="Aptos"/>
              </a:rPr>
              <a:t>SUN KING</a:t>
            </a:r>
          </a:p>
        </p:txBody>
      </p:sp>
      <p:sp>
        <p:nvSpPr>
          <p:cNvPr id="8" name="Rounded Rectangle 7"/>
          <p:cNvSpPr/>
          <p:nvPr/>
        </p:nvSpPr>
        <p:spPr>
          <a:xfrm>
            <a:off x="960120" y="2514600"/>
            <a:ext cx="2331720" cy="329184"/>
          </a:xfrm>
          <a:prstGeom prst="roundRect">
            <a:avLst>
              <a:gd name="adj" fmla="val 8000"/>
            </a:avLst>
          </a:prstGeom>
          <a:solidFill>
            <a:srgbClr val="122745"/>
          </a:solidFill>
          <a:ln>
            <a:solidFill>
              <a:srgbClr val="1227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88720" y="2578608"/>
            <a:ext cx="1828800" cy="182880"/>
          </a:xfrm>
          <a:prstGeom prst="rect">
            <a:avLst/>
          </a:prstGeom>
          <a:noFill/>
        </p:spPr>
        <p:txBody>
          <a:bodyPr wrap="square" lIns="36576" rIns="36576">
            <a:spAutoFit/>
          </a:bodyPr>
          <a:lstStyle/>
          <a:p>
            <a:pPr algn="l"/>
            <a:r>
              <a:rPr sz="1300" b="0">
                <a:solidFill>
                  <a:srgbClr val="BECDDC"/>
                </a:solidFill>
                <a:latin typeface="Aptos"/>
              </a:rPr>
              <a:t>Dashboard</a:t>
            </a:r>
          </a:p>
        </p:txBody>
      </p:sp>
      <p:sp>
        <p:nvSpPr>
          <p:cNvPr id="10" name="Rounded Rectangle 9"/>
          <p:cNvSpPr/>
          <p:nvPr/>
        </p:nvSpPr>
        <p:spPr>
          <a:xfrm>
            <a:off x="960120" y="2990088"/>
            <a:ext cx="2331720" cy="329184"/>
          </a:xfrm>
          <a:prstGeom prst="roundRect">
            <a:avLst>
              <a:gd name="adj" fmla="val 8000"/>
            </a:avLst>
          </a:prstGeom>
          <a:solidFill>
            <a:srgbClr val="1E3E60"/>
          </a:solidFill>
          <a:ln>
            <a:solidFill>
              <a:srgbClr val="1E3E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88720" y="3054096"/>
            <a:ext cx="1828800" cy="182880"/>
          </a:xfrm>
          <a:prstGeom prst="rect">
            <a:avLst/>
          </a:prstGeom>
          <a:noFill/>
        </p:spPr>
        <p:txBody>
          <a:bodyPr wrap="square" lIns="36576" rIns="36576">
            <a:spAutoFit/>
          </a:bodyPr>
          <a:lstStyle/>
          <a:p>
            <a:pPr algn="l"/>
            <a:r>
              <a:rPr sz="1300" b="1">
                <a:solidFill>
                  <a:srgbClr val="FFFFFF"/>
                </a:solidFill>
                <a:latin typeface="Aptos"/>
              </a:rPr>
              <a:t>Assets</a:t>
            </a:r>
          </a:p>
        </p:txBody>
      </p:sp>
      <p:sp>
        <p:nvSpPr>
          <p:cNvPr id="12" name="Rounded Rectangle 11"/>
          <p:cNvSpPr/>
          <p:nvPr/>
        </p:nvSpPr>
        <p:spPr>
          <a:xfrm>
            <a:off x="960120" y="3465576"/>
            <a:ext cx="2331720" cy="329184"/>
          </a:xfrm>
          <a:prstGeom prst="roundRect">
            <a:avLst>
              <a:gd name="adj" fmla="val 8000"/>
            </a:avLst>
          </a:prstGeom>
          <a:solidFill>
            <a:srgbClr val="122745"/>
          </a:solidFill>
          <a:ln>
            <a:solidFill>
              <a:srgbClr val="1227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88720" y="3529584"/>
            <a:ext cx="1828800" cy="182880"/>
          </a:xfrm>
          <a:prstGeom prst="rect">
            <a:avLst/>
          </a:prstGeom>
          <a:noFill/>
        </p:spPr>
        <p:txBody>
          <a:bodyPr wrap="square" lIns="36576" rIns="36576">
            <a:spAutoFit/>
          </a:bodyPr>
          <a:lstStyle/>
          <a:p>
            <a:pPr algn="l"/>
            <a:r>
              <a:rPr sz="1300" b="0">
                <a:solidFill>
                  <a:srgbClr val="BECDDC"/>
                </a:solidFill>
                <a:latin typeface="Aptos"/>
              </a:rPr>
              <a:t>Assignments</a:t>
            </a:r>
          </a:p>
        </p:txBody>
      </p:sp>
      <p:sp>
        <p:nvSpPr>
          <p:cNvPr id="14" name="Rounded Rectangle 13"/>
          <p:cNvSpPr/>
          <p:nvPr/>
        </p:nvSpPr>
        <p:spPr>
          <a:xfrm>
            <a:off x="960120" y="3941064"/>
            <a:ext cx="2331720" cy="329184"/>
          </a:xfrm>
          <a:prstGeom prst="roundRect">
            <a:avLst>
              <a:gd name="adj" fmla="val 8000"/>
            </a:avLst>
          </a:prstGeom>
          <a:solidFill>
            <a:srgbClr val="122745"/>
          </a:solidFill>
          <a:ln>
            <a:solidFill>
              <a:srgbClr val="1227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188720" y="4005072"/>
            <a:ext cx="1828800" cy="182880"/>
          </a:xfrm>
          <a:prstGeom prst="rect">
            <a:avLst/>
          </a:prstGeom>
          <a:noFill/>
        </p:spPr>
        <p:txBody>
          <a:bodyPr wrap="square" lIns="36576" rIns="36576">
            <a:spAutoFit/>
          </a:bodyPr>
          <a:lstStyle/>
          <a:p>
            <a:pPr algn="l"/>
            <a:r>
              <a:rPr sz="1300" b="0">
                <a:solidFill>
                  <a:srgbClr val="BECDDC"/>
                </a:solidFill>
                <a:latin typeface="Aptos"/>
              </a:rPr>
              <a:t>Transfers</a:t>
            </a:r>
          </a:p>
        </p:txBody>
      </p:sp>
      <p:sp>
        <p:nvSpPr>
          <p:cNvPr id="16" name="Rounded Rectangle 15"/>
          <p:cNvSpPr/>
          <p:nvPr/>
        </p:nvSpPr>
        <p:spPr>
          <a:xfrm>
            <a:off x="960120" y="4416552"/>
            <a:ext cx="2331720" cy="329184"/>
          </a:xfrm>
          <a:prstGeom prst="roundRect">
            <a:avLst>
              <a:gd name="adj" fmla="val 8000"/>
            </a:avLst>
          </a:prstGeom>
          <a:solidFill>
            <a:srgbClr val="122745"/>
          </a:solidFill>
          <a:ln>
            <a:solidFill>
              <a:srgbClr val="1227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188720" y="4480560"/>
            <a:ext cx="1828800" cy="182880"/>
          </a:xfrm>
          <a:prstGeom prst="rect">
            <a:avLst/>
          </a:prstGeom>
          <a:noFill/>
        </p:spPr>
        <p:txBody>
          <a:bodyPr wrap="square" lIns="36576" rIns="36576">
            <a:spAutoFit/>
          </a:bodyPr>
          <a:lstStyle/>
          <a:p>
            <a:pPr algn="l"/>
            <a:r>
              <a:rPr sz="1300" b="0">
                <a:solidFill>
                  <a:srgbClr val="BECDDC"/>
                </a:solidFill>
                <a:latin typeface="Aptos"/>
              </a:rPr>
              <a:t>Employees</a:t>
            </a:r>
          </a:p>
        </p:txBody>
      </p:sp>
      <p:sp>
        <p:nvSpPr>
          <p:cNvPr id="18" name="Rounded Rectangle 17"/>
          <p:cNvSpPr/>
          <p:nvPr/>
        </p:nvSpPr>
        <p:spPr>
          <a:xfrm>
            <a:off x="960120" y="4892040"/>
            <a:ext cx="2331720" cy="329184"/>
          </a:xfrm>
          <a:prstGeom prst="roundRect">
            <a:avLst>
              <a:gd name="adj" fmla="val 8000"/>
            </a:avLst>
          </a:prstGeom>
          <a:solidFill>
            <a:srgbClr val="122745"/>
          </a:solidFill>
          <a:ln>
            <a:solidFill>
              <a:srgbClr val="1227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188720" y="4956048"/>
            <a:ext cx="1828800" cy="182880"/>
          </a:xfrm>
          <a:prstGeom prst="rect">
            <a:avLst/>
          </a:prstGeom>
          <a:noFill/>
        </p:spPr>
        <p:txBody>
          <a:bodyPr wrap="square" lIns="36576" rIns="36576">
            <a:spAutoFit/>
          </a:bodyPr>
          <a:lstStyle/>
          <a:p>
            <a:pPr algn="l"/>
            <a:r>
              <a:rPr sz="1300" b="0">
                <a:solidFill>
                  <a:srgbClr val="BECDDC"/>
                </a:solidFill>
                <a:latin typeface="Aptos"/>
              </a:rPr>
              <a:t>Reports</a:t>
            </a:r>
          </a:p>
        </p:txBody>
      </p:sp>
      <p:sp>
        <p:nvSpPr>
          <p:cNvPr id="20" name="Rounded Rectangle 19"/>
          <p:cNvSpPr/>
          <p:nvPr/>
        </p:nvSpPr>
        <p:spPr>
          <a:xfrm>
            <a:off x="4160520" y="1600200"/>
            <a:ext cx="7269480" cy="4297680"/>
          </a:xfrm>
          <a:prstGeom prst="roundRect">
            <a:avLst>
              <a:gd name="adj" fmla="val 8000"/>
            </a:avLst>
          </a:prstGeom>
          <a:solidFill>
            <a:srgbClr val="FFFFFF"/>
          </a:solidFill>
          <a:ln>
            <a:solidFill>
              <a:srgbClr val="D3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26280" y="1901952"/>
            <a:ext cx="2286000" cy="347472"/>
          </a:xfrm>
          <a:prstGeom prst="rect">
            <a:avLst/>
          </a:prstGeom>
          <a:noFill/>
        </p:spPr>
        <p:txBody>
          <a:bodyPr wrap="square" lIns="36576" rIns="36576">
            <a:spAutoFit/>
          </a:bodyPr>
          <a:lstStyle/>
          <a:p>
            <a:pPr algn="l"/>
            <a:r>
              <a:rPr sz="2400" b="1">
                <a:solidFill>
                  <a:srgbClr val="122745"/>
                </a:solidFill>
                <a:latin typeface="Aptos"/>
              </a:rPr>
              <a:t>Assets</a:t>
            </a:r>
          </a:p>
        </p:txBody>
      </p:sp>
      <p:sp>
        <p:nvSpPr>
          <p:cNvPr id="22" name="TextBox 21"/>
          <p:cNvSpPr txBox="1"/>
          <p:nvPr/>
        </p:nvSpPr>
        <p:spPr>
          <a:xfrm>
            <a:off x="4526280" y="2304288"/>
            <a:ext cx="3108960" cy="228600"/>
          </a:xfrm>
          <a:prstGeom prst="rect">
            <a:avLst/>
          </a:prstGeom>
          <a:noFill/>
        </p:spPr>
        <p:txBody>
          <a:bodyPr wrap="square" lIns="36576" rIns="36576">
            <a:spAutoFit/>
          </a:bodyPr>
          <a:lstStyle/>
          <a:p>
            <a:pPr algn="l"/>
            <a:r>
              <a:rPr sz="1200" b="0">
                <a:solidFill>
                  <a:srgbClr val="5F6E7D"/>
                </a:solidFill>
                <a:latin typeface="Aptos"/>
              </a:rPr>
              <a:t>Manage Country Assets</a:t>
            </a:r>
          </a:p>
        </p:txBody>
      </p:sp>
      <p:sp>
        <p:nvSpPr>
          <p:cNvPr id="23" name="Rounded Rectangle 22"/>
          <p:cNvSpPr/>
          <p:nvPr/>
        </p:nvSpPr>
        <p:spPr>
          <a:xfrm>
            <a:off x="8229600" y="1847088"/>
            <a:ext cx="868680" cy="384048"/>
          </a:xfrm>
          <a:prstGeom prst="roundRect">
            <a:avLst>
              <a:gd name="adj" fmla="val 8000"/>
            </a:avLst>
          </a:prstGeom>
          <a:solidFill>
            <a:srgbClr val="2669AB"/>
          </a:solidFill>
          <a:ln>
            <a:solidFill>
              <a:srgbClr val="2669A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229600" y="1947672"/>
            <a:ext cx="868680" cy="137160"/>
          </a:xfrm>
          <a:prstGeom prst="rect">
            <a:avLst/>
          </a:prstGeom>
          <a:noFill/>
        </p:spPr>
        <p:txBody>
          <a:bodyPr wrap="square" lIns="36576" rIns="36576">
            <a:spAutoFit/>
          </a:bodyPr>
          <a:lstStyle/>
          <a:p>
            <a:pPr algn="ctr"/>
            <a:r>
              <a:rPr sz="900" b="1">
                <a:solidFill>
                  <a:srgbClr val="FFFFFF"/>
                </a:solidFill>
                <a:latin typeface="Aptos"/>
              </a:rPr>
              <a:t>Import</a:t>
            </a:r>
          </a:p>
        </p:txBody>
      </p:sp>
      <p:sp>
        <p:nvSpPr>
          <p:cNvPr id="25" name="Rounded Rectangle 24"/>
          <p:cNvSpPr/>
          <p:nvPr/>
        </p:nvSpPr>
        <p:spPr>
          <a:xfrm>
            <a:off x="9180576" y="1847088"/>
            <a:ext cx="868680" cy="384048"/>
          </a:xfrm>
          <a:prstGeom prst="roundRect">
            <a:avLst>
              <a:gd name="adj" fmla="val 8000"/>
            </a:avLst>
          </a:prstGeom>
          <a:solidFill>
            <a:srgbClr val="009196"/>
          </a:solidFill>
          <a:ln>
            <a:solidFill>
              <a:srgbClr val="0091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180576" y="1947672"/>
            <a:ext cx="868680" cy="137160"/>
          </a:xfrm>
          <a:prstGeom prst="rect">
            <a:avLst/>
          </a:prstGeom>
          <a:noFill/>
        </p:spPr>
        <p:txBody>
          <a:bodyPr wrap="square" lIns="36576" rIns="36576">
            <a:spAutoFit/>
          </a:bodyPr>
          <a:lstStyle/>
          <a:p>
            <a:pPr algn="ctr"/>
            <a:r>
              <a:rPr sz="900" b="1">
                <a:solidFill>
                  <a:srgbClr val="FFFFFF"/>
                </a:solidFill>
                <a:latin typeface="Aptos"/>
              </a:rPr>
              <a:t>Export</a:t>
            </a:r>
          </a:p>
        </p:txBody>
      </p:sp>
      <p:sp>
        <p:nvSpPr>
          <p:cNvPr id="27" name="Rounded Rectangle 26"/>
          <p:cNvSpPr/>
          <p:nvPr/>
        </p:nvSpPr>
        <p:spPr>
          <a:xfrm>
            <a:off x="10131552" y="1847088"/>
            <a:ext cx="1188720" cy="384048"/>
          </a:xfrm>
          <a:prstGeom prst="roundRect">
            <a:avLst>
              <a:gd name="adj" fmla="val 8000"/>
            </a:avLst>
          </a:prstGeom>
          <a:solidFill>
            <a:srgbClr val="EFAE3D"/>
          </a:solidFill>
          <a:ln>
            <a:solidFill>
              <a:srgbClr val="EFAE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131552" y="1947672"/>
            <a:ext cx="1188720" cy="137160"/>
          </a:xfrm>
          <a:prstGeom prst="rect">
            <a:avLst/>
          </a:prstGeom>
          <a:noFill/>
        </p:spPr>
        <p:txBody>
          <a:bodyPr wrap="square" lIns="36576" rIns="36576">
            <a:spAutoFit/>
          </a:bodyPr>
          <a:lstStyle/>
          <a:p>
            <a:pPr algn="ctr"/>
            <a:r>
              <a:rPr sz="900" b="1">
                <a:solidFill>
                  <a:srgbClr val="FFFFFF"/>
                </a:solidFill>
                <a:latin typeface="Aptos"/>
              </a:rPr>
              <a:t>Register Asset</a:t>
            </a:r>
          </a:p>
        </p:txBody>
      </p:sp>
      <p:sp>
        <p:nvSpPr>
          <p:cNvPr id="29" name="Rounded Rectangle 28"/>
          <p:cNvSpPr/>
          <p:nvPr/>
        </p:nvSpPr>
        <p:spPr>
          <a:xfrm>
            <a:off x="4526280" y="2880360"/>
            <a:ext cx="6263640" cy="566928"/>
          </a:xfrm>
          <a:prstGeom prst="roundRect">
            <a:avLst>
              <a:gd name="adj" fmla="val 8000"/>
            </a:avLst>
          </a:prstGeom>
          <a:solidFill>
            <a:srgbClr val="F1F6FA"/>
          </a:solidFill>
          <a:ln>
            <a:solidFill>
              <a:srgbClr val="DC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754880" y="3054096"/>
            <a:ext cx="5806440" cy="201168"/>
          </a:xfrm>
          <a:prstGeom prst="rect">
            <a:avLst/>
          </a:prstGeom>
          <a:noFill/>
        </p:spPr>
        <p:txBody>
          <a:bodyPr wrap="square" lIns="36576" rIns="36576">
            <a:spAutoFit/>
          </a:bodyPr>
          <a:lstStyle/>
          <a:p>
            <a:pPr algn="l"/>
            <a:r>
              <a:rPr sz="1300" b="0">
                <a:solidFill>
                  <a:srgbClr val="5F6E7D"/>
                </a:solidFill>
                <a:latin typeface="Aptos"/>
              </a:rPr>
              <a:t>??  Search assets...                         Search</a:t>
            </a:r>
          </a:p>
        </p:txBody>
      </p:sp>
      <p:sp>
        <p:nvSpPr>
          <p:cNvPr id="31" name="TextBox 30"/>
          <p:cNvSpPr txBox="1"/>
          <p:nvPr/>
        </p:nvSpPr>
        <p:spPr>
          <a:xfrm>
            <a:off x="4617720" y="3886200"/>
            <a:ext cx="868680" cy="320040"/>
          </a:xfrm>
          <a:prstGeom prst="rect">
            <a:avLst/>
          </a:prstGeom>
          <a:noFill/>
        </p:spPr>
        <p:txBody>
          <a:bodyPr wrap="square" lIns="36576" rIns="36576">
            <a:spAutoFit/>
          </a:bodyPr>
          <a:lstStyle/>
          <a:p>
            <a:pPr algn="ctr"/>
            <a:r>
              <a:rPr sz="1000" b="1">
                <a:solidFill>
                  <a:srgbClr val="122745"/>
                </a:solidFill>
                <a:latin typeface="Aptos"/>
              </a:rPr>
              <a:t>Asset Tag</a:t>
            </a:r>
          </a:p>
        </p:txBody>
      </p:sp>
      <p:sp>
        <p:nvSpPr>
          <p:cNvPr id="32" name="TextBox 31"/>
          <p:cNvSpPr txBox="1"/>
          <p:nvPr/>
        </p:nvSpPr>
        <p:spPr>
          <a:xfrm>
            <a:off x="5577840" y="3886200"/>
            <a:ext cx="868680" cy="320040"/>
          </a:xfrm>
          <a:prstGeom prst="rect">
            <a:avLst/>
          </a:prstGeom>
          <a:noFill/>
        </p:spPr>
        <p:txBody>
          <a:bodyPr wrap="square" lIns="36576" rIns="36576">
            <a:spAutoFit/>
          </a:bodyPr>
          <a:lstStyle/>
          <a:p>
            <a:pPr algn="ctr"/>
            <a:r>
              <a:rPr sz="1000" b="1">
                <a:solidFill>
                  <a:srgbClr val="122745"/>
                </a:solidFill>
                <a:latin typeface="Aptos"/>
              </a:rPr>
              <a:t>Serial Number</a:t>
            </a:r>
          </a:p>
        </p:txBody>
      </p:sp>
      <p:sp>
        <p:nvSpPr>
          <p:cNvPr id="33" name="TextBox 32"/>
          <p:cNvSpPr txBox="1"/>
          <p:nvPr/>
        </p:nvSpPr>
        <p:spPr>
          <a:xfrm>
            <a:off x="6537960" y="3886200"/>
            <a:ext cx="868680" cy="320040"/>
          </a:xfrm>
          <a:prstGeom prst="rect">
            <a:avLst/>
          </a:prstGeom>
          <a:noFill/>
        </p:spPr>
        <p:txBody>
          <a:bodyPr wrap="square" lIns="36576" rIns="36576">
            <a:spAutoFit/>
          </a:bodyPr>
          <a:lstStyle/>
          <a:p>
            <a:pPr algn="ctr"/>
            <a:r>
              <a:rPr sz="1000" b="1">
                <a:solidFill>
                  <a:srgbClr val="122745"/>
                </a:solidFill>
                <a:latin typeface="Aptos"/>
              </a:rPr>
              <a:t>Model</a:t>
            </a:r>
          </a:p>
        </p:txBody>
      </p:sp>
      <p:sp>
        <p:nvSpPr>
          <p:cNvPr id="34" name="TextBox 33"/>
          <p:cNvSpPr txBox="1"/>
          <p:nvPr/>
        </p:nvSpPr>
        <p:spPr>
          <a:xfrm>
            <a:off x="7498079" y="3886200"/>
            <a:ext cx="868680" cy="320040"/>
          </a:xfrm>
          <a:prstGeom prst="rect">
            <a:avLst/>
          </a:prstGeom>
          <a:noFill/>
        </p:spPr>
        <p:txBody>
          <a:bodyPr wrap="square" lIns="36576" rIns="36576">
            <a:spAutoFit/>
          </a:bodyPr>
          <a:lstStyle/>
          <a:p>
            <a:pPr algn="ctr"/>
            <a:r>
              <a:rPr sz="1000" b="1">
                <a:solidFill>
                  <a:srgbClr val="122745"/>
                </a:solidFill>
                <a:latin typeface="Aptos"/>
              </a:rPr>
              <a:t>Country</a:t>
            </a:r>
          </a:p>
        </p:txBody>
      </p:sp>
      <p:sp>
        <p:nvSpPr>
          <p:cNvPr id="35" name="TextBox 34"/>
          <p:cNvSpPr txBox="1"/>
          <p:nvPr/>
        </p:nvSpPr>
        <p:spPr>
          <a:xfrm>
            <a:off x="8458200" y="3886200"/>
            <a:ext cx="868680" cy="320040"/>
          </a:xfrm>
          <a:prstGeom prst="rect">
            <a:avLst/>
          </a:prstGeom>
          <a:noFill/>
        </p:spPr>
        <p:txBody>
          <a:bodyPr wrap="square" lIns="36576" rIns="36576">
            <a:spAutoFit/>
          </a:bodyPr>
          <a:lstStyle/>
          <a:p>
            <a:pPr algn="ctr"/>
            <a:r>
              <a:rPr sz="1000" b="1">
                <a:solidFill>
                  <a:srgbClr val="122745"/>
                </a:solidFill>
                <a:latin typeface="Aptos"/>
              </a:rPr>
              <a:t>Status</a:t>
            </a:r>
          </a:p>
        </p:txBody>
      </p:sp>
      <p:sp>
        <p:nvSpPr>
          <p:cNvPr id="36" name="TextBox 35"/>
          <p:cNvSpPr txBox="1"/>
          <p:nvPr/>
        </p:nvSpPr>
        <p:spPr>
          <a:xfrm>
            <a:off x="9418320" y="3886200"/>
            <a:ext cx="868680" cy="320040"/>
          </a:xfrm>
          <a:prstGeom prst="rect">
            <a:avLst/>
          </a:prstGeom>
          <a:noFill/>
        </p:spPr>
        <p:txBody>
          <a:bodyPr wrap="square" lIns="36576" rIns="36576">
            <a:spAutoFit/>
          </a:bodyPr>
          <a:lstStyle/>
          <a:p>
            <a:pPr algn="ctr"/>
            <a:r>
              <a:rPr sz="1000" b="1">
                <a:solidFill>
                  <a:srgbClr val="122745"/>
                </a:solidFill>
                <a:latin typeface="Aptos"/>
              </a:rPr>
              <a:t>Condition</a:t>
            </a:r>
          </a:p>
        </p:txBody>
      </p:sp>
      <p:sp>
        <p:nvSpPr>
          <p:cNvPr id="37" name="TextBox 36"/>
          <p:cNvSpPr txBox="1"/>
          <p:nvPr/>
        </p:nvSpPr>
        <p:spPr>
          <a:xfrm>
            <a:off x="4526280" y="5074920"/>
            <a:ext cx="6217920" cy="384048"/>
          </a:xfrm>
          <a:prstGeom prst="rect">
            <a:avLst/>
          </a:prstGeom>
          <a:noFill/>
        </p:spPr>
        <p:txBody>
          <a:bodyPr wrap="square" lIns="36576" rIns="36576">
            <a:spAutoFit/>
          </a:bodyPr>
          <a:lstStyle/>
          <a:p>
            <a:pPr algn="l"/>
            <a:r>
              <a:rPr sz="1500" b="1">
                <a:solidFill>
                  <a:srgbClr val="009196"/>
                </a:solidFill>
                <a:latin typeface="Aptos"/>
              </a:rPr>
              <a:t>Toolbar buttons are permission-aware: you may see fewer actions than another user.</a:t>
            </a:r>
          </a:p>
        </p:txBody>
      </p:sp>
      <p:sp>
        <p:nvSpPr>
          <p:cNvPr id="38" name="Rectangle 37"/>
          <p:cNvSpPr/>
          <p:nvPr/>
        </p:nvSpPr>
        <p:spPr>
          <a:xfrm>
            <a:off x="594360" y="6510528"/>
            <a:ext cx="10972800" cy="10972"/>
          </a:xfrm>
          <a:prstGeom prst="rect">
            <a:avLst/>
          </a:prstGeom>
          <a:solidFill>
            <a:srgbClr val="DCE4EB"/>
          </a:solidFill>
          <a:ln>
            <a:solidFill>
              <a:srgbClr val="DCE4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21792" y="6565392"/>
            <a:ext cx="3200400" cy="164592"/>
          </a:xfrm>
          <a:prstGeom prst="rect">
            <a:avLst/>
          </a:prstGeom>
          <a:noFill/>
        </p:spPr>
        <p:txBody>
          <a:bodyPr wrap="square" lIns="36576" rIns="36576">
            <a:spAutoFit/>
          </a:bodyPr>
          <a:lstStyle/>
          <a:p>
            <a:pPr algn="l"/>
            <a:r>
              <a:rPr sz="800" b="0">
                <a:solidFill>
                  <a:srgbClr val="5F6E7D"/>
                </a:solidFill>
                <a:latin typeface="Aptos"/>
              </a:rPr>
              <a:t>AssetControl user training</a:t>
            </a:r>
          </a:p>
        </p:txBody>
      </p:sp>
      <p:sp>
        <p:nvSpPr>
          <p:cNvPr id="40" name="TextBox 39"/>
          <p:cNvSpPr txBox="1"/>
          <p:nvPr/>
        </p:nvSpPr>
        <p:spPr>
          <a:xfrm>
            <a:off x="10972800" y="6547104"/>
            <a:ext cx="548640" cy="182880"/>
          </a:xfrm>
          <a:prstGeom prst="rect">
            <a:avLst/>
          </a:prstGeom>
          <a:noFill/>
        </p:spPr>
        <p:txBody>
          <a:bodyPr wrap="square" lIns="36576" rIns="36576">
            <a:spAutoFit/>
          </a:bodyPr>
          <a:lstStyle/>
          <a:p>
            <a:pPr algn="r"/>
            <a:r>
              <a:rPr sz="900" b="0">
                <a:solidFill>
                  <a:srgbClr val="5F6E7D"/>
                </a:solidFill>
                <a:latin typeface="Aptos"/>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09196"/>
          </a:solidFill>
          <a:ln>
            <a:solidFill>
              <a:srgbClr val="0091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38912"/>
            <a:ext cx="10789920" cy="502920"/>
          </a:xfrm>
          <a:prstGeom prst="rect">
            <a:avLst/>
          </a:prstGeom>
          <a:noFill/>
        </p:spPr>
        <p:txBody>
          <a:bodyPr wrap="square" lIns="36576" rIns="36576">
            <a:spAutoFit/>
          </a:bodyPr>
          <a:lstStyle/>
          <a:p>
            <a:pPr algn="l"/>
            <a:r>
              <a:rPr sz="2700" b="1">
                <a:solidFill>
                  <a:srgbClr val="122745"/>
                </a:solidFill>
                <a:latin typeface="Aptos"/>
              </a:rPr>
              <a:t>Register a new asset</a:t>
            </a:r>
          </a:p>
        </p:txBody>
      </p:sp>
      <p:sp>
        <p:nvSpPr>
          <p:cNvPr id="4" name="TextBox 3"/>
          <p:cNvSpPr txBox="1"/>
          <p:nvPr/>
        </p:nvSpPr>
        <p:spPr>
          <a:xfrm>
            <a:off x="621792" y="987552"/>
            <a:ext cx="10698480" cy="347472"/>
          </a:xfrm>
          <a:prstGeom prst="rect">
            <a:avLst/>
          </a:prstGeom>
          <a:noFill/>
        </p:spPr>
        <p:txBody>
          <a:bodyPr wrap="square" lIns="36576" rIns="36576">
            <a:spAutoFit/>
          </a:bodyPr>
          <a:lstStyle/>
          <a:p>
            <a:pPr algn="l"/>
            <a:r>
              <a:rPr sz="1300" b="0">
                <a:solidFill>
                  <a:srgbClr val="5F6E7D"/>
                </a:solidFill>
                <a:latin typeface="Aptos"/>
              </a:rPr>
              <a:t>Start with the physical item and capture enough information to identify it later.</a:t>
            </a:r>
          </a:p>
        </p:txBody>
      </p:sp>
      <p:sp>
        <p:nvSpPr>
          <p:cNvPr id="5" name="TextBox 4"/>
          <p:cNvSpPr txBox="1"/>
          <p:nvPr/>
        </p:nvSpPr>
        <p:spPr>
          <a:xfrm>
            <a:off x="10149840" y="475488"/>
            <a:ext cx="1417320" cy="256032"/>
          </a:xfrm>
          <a:prstGeom prst="rect">
            <a:avLst/>
          </a:prstGeom>
          <a:noFill/>
        </p:spPr>
        <p:txBody>
          <a:bodyPr wrap="square" lIns="36576" rIns="36576">
            <a:spAutoFit/>
          </a:bodyPr>
          <a:lstStyle/>
          <a:p>
            <a:pPr algn="r"/>
            <a:r>
              <a:rPr sz="900" b="1">
                <a:solidFill>
                  <a:srgbClr val="009196"/>
                </a:solidFill>
                <a:latin typeface="Aptos"/>
              </a:rPr>
              <a:t>WORKFLOW 1</a:t>
            </a:r>
          </a:p>
        </p:txBody>
      </p:sp>
      <p:sp>
        <p:nvSpPr>
          <p:cNvPr id="6" name="Rounded Rectangle 5"/>
          <p:cNvSpPr/>
          <p:nvPr/>
        </p:nvSpPr>
        <p:spPr>
          <a:xfrm>
            <a:off x="822960" y="1691640"/>
            <a:ext cx="3246120" cy="2057400"/>
          </a:xfrm>
          <a:prstGeom prst="roundRect">
            <a:avLst>
              <a:gd name="adj" fmla="val 8000"/>
            </a:avLst>
          </a:prstGeom>
          <a:solidFill>
            <a:srgbClr val="F1F6FA"/>
          </a:solidFill>
          <a:ln>
            <a:solidFill>
              <a:srgbClr val="DC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22960" y="1691640"/>
            <a:ext cx="82296" cy="2057400"/>
          </a:xfrm>
          <a:prstGeom prst="rect">
            <a:avLst/>
          </a:prstGeom>
          <a:solidFill>
            <a:srgbClr val="2669AB"/>
          </a:solidFill>
          <a:ln>
            <a:solidFill>
              <a:srgbClr val="2669A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1874520"/>
            <a:ext cx="411480" cy="384048"/>
          </a:xfrm>
          <a:prstGeom prst="rect">
            <a:avLst/>
          </a:prstGeom>
          <a:noFill/>
        </p:spPr>
        <p:txBody>
          <a:bodyPr wrap="square" lIns="36576" rIns="36576">
            <a:spAutoFit/>
          </a:bodyPr>
          <a:lstStyle/>
          <a:p>
            <a:pPr algn="ctr"/>
            <a:r>
              <a:rPr sz="2200" b="1">
                <a:solidFill>
                  <a:srgbClr val="2669AB"/>
                </a:solidFill>
                <a:latin typeface="Aptos"/>
              </a:rPr>
              <a:t>1</a:t>
            </a:r>
          </a:p>
        </p:txBody>
      </p:sp>
      <p:sp>
        <p:nvSpPr>
          <p:cNvPr id="9" name="TextBox 8"/>
          <p:cNvSpPr txBox="1"/>
          <p:nvPr/>
        </p:nvSpPr>
        <p:spPr>
          <a:xfrm>
            <a:off x="1554480" y="1856232"/>
            <a:ext cx="2331720" cy="320040"/>
          </a:xfrm>
          <a:prstGeom prst="rect">
            <a:avLst/>
          </a:prstGeom>
          <a:noFill/>
        </p:spPr>
        <p:txBody>
          <a:bodyPr wrap="square" lIns="36576" rIns="36576">
            <a:spAutoFit/>
          </a:bodyPr>
          <a:lstStyle/>
          <a:p>
            <a:pPr algn="l"/>
            <a:r>
              <a:rPr sz="1600" b="1">
                <a:solidFill>
                  <a:srgbClr val="122745"/>
                </a:solidFill>
                <a:latin typeface="Aptos"/>
              </a:rPr>
              <a:t>Asset information</a:t>
            </a:r>
          </a:p>
        </p:txBody>
      </p:sp>
      <p:sp>
        <p:nvSpPr>
          <p:cNvPr id="10" name="TextBox 9"/>
          <p:cNvSpPr txBox="1"/>
          <p:nvPr/>
        </p:nvSpPr>
        <p:spPr>
          <a:xfrm>
            <a:off x="1051560" y="2331720"/>
            <a:ext cx="2788920" cy="1234440"/>
          </a:xfrm>
          <a:prstGeom prst="rect">
            <a:avLst/>
          </a:prstGeom>
          <a:noFill/>
        </p:spPr>
        <p:txBody>
          <a:bodyPr wrap="square" lIns="36576" rIns="36576">
            <a:spAutoFit/>
          </a:bodyPr>
          <a:lstStyle/>
          <a:p>
            <a:pPr algn="l"/>
            <a:r>
              <a:rPr sz="1300" b="0">
                <a:solidFill>
                  <a:srgbClr val="232D3A"/>
                </a:solidFill>
                <a:latin typeface="Aptos"/>
              </a:rPr>
              <a:t>Country, asset model and manufacturer serial number.</a:t>
            </a:r>
          </a:p>
        </p:txBody>
      </p:sp>
      <p:sp>
        <p:nvSpPr>
          <p:cNvPr id="11" name="Rounded Rectangle 10"/>
          <p:cNvSpPr/>
          <p:nvPr/>
        </p:nvSpPr>
        <p:spPr>
          <a:xfrm>
            <a:off x="4526280" y="1691640"/>
            <a:ext cx="3246120" cy="2057400"/>
          </a:xfrm>
          <a:prstGeom prst="roundRect">
            <a:avLst>
              <a:gd name="adj" fmla="val 8000"/>
            </a:avLst>
          </a:prstGeom>
          <a:solidFill>
            <a:srgbClr val="F1F6FA"/>
          </a:solidFill>
          <a:ln>
            <a:solidFill>
              <a:srgbClr val="DC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26280" y="1691640"/>
            <a:ext cx="82296" cy="2057400"/>
          </a:xfrm>
          <a:prstGeom prst="rect">
            <a:avLst/>
          </a:prstGeom>
          <a:solidFill>
            <a:srgbClr val="009196"/>
          </a:solidFill>
          <a:ln>
            <a:solidFill>
              <a:srgbClr val="0091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754880" y="1874520"/>
            <a:ext cx="411480" cy="384048"/>
          </a:xfrm>
          <a:prstGeom prst="rect">
            <a:avLst/>
          </a:prstGeom>
          <a:noFill/>
        </p:spPr>
        <p:txBody>
          <a:bodyPr wrap="square" lIns="36576" rIns="36576">
            <a:spAutoFit/>
          </a:bodyPr>
          <a:lstStyle/>
          <a:p>
            <a:pPr algn="ctr"/>
            <a:r>
              <a:rPr sz="2200" b="1">
                <a:solidFill>
                  <a:srgbClr val="009196"/>
                </a:solidFill>
                <a:latin typeface="Aptos"/>
              </a:rPr>
              <a:t>2</a:t>
            </a:r>
          </a:p>
        </p:txBody>
      </p:sp>
      <p:sp>
        <p:nvSpPr>
          <p:cNvPr id="14" name="TextBox 13"/>
          <p:cNvSpPr txBox="1"/>
          <p:nvPr/>
        </p:nvSpPr>
        <p:spPr>
          <a:xfrm>
            <a:off x="5257800" y="1856232"/>
            <a:ext cx="2331720" cy="320040"/>
          </a:xfrm>
          <a:prstGeom prst="rect">
            <a:avLst/>
          </a:prstGeom>
          <a:noFill/>
        </p:spPr>
        <p:txBody>
          <a:bodyPr wrap="square" lIns="36576" rIns="36576">
            <a:spAutoFit/>
          </a:bodyPr>
          <a:lstStyle/>
          <a:p>
            <a:pPr algn="l"/>
            <a:r>
              <a:rPr sz="1600" b="1">
                <a:solidFill>
                  <a:srgbClr val="122745"/>
                </a:solidFill>
                <a:latin typeface="Aptos"/>
              </a:rPr>
              <a:t>Procurement</a:t>
            </a:r>
          </a:p>
        </p:txBody>
      </p:sp>
      <p:sp>
        <p:nvSpPr>
          <p:cNvPr id="15" name="TextBox 14"/>
          <p:cNvSpPr txBox="1"/>
          <p:nvPr/>
        </p:nvSpPr>
        <p:spPr>
          <a:xfrm>
            <a:off x="4754880" y="2331720"/>
            <a:ext cx="2788920" cy="1234440"/>
          </a:xfrm>
          <a:prstGeom prst="rect">
            <a:avLst/>
          </a:prstGeom>
          <a:noFill/>
        </p:spPr>
        <p:txBody>
          <a:bodyPr wrap="square" lIns="36576" rIns="36576">
            <a:spAutoFit/>
          </a:bodyPr>
          <a:lstStyle/>
          <a:p>
            <a:pPr algn="l"/>
            <a:r>
              <a:rPr sz="1300" b="0">
                <a:solidFill>
                  <a:srgbClr val="232D3A"/>
                </a:solidFill>
                <a:latin typeface="Aptos"/>
              </a:rPr>
              <a:t>Purchase date, received date, cost and invoice number.</a:t>
            </a:r>
          </a:p>
        </p:txBody>
      </p:sp>
      <p:sp>
        <p:nvSpPr>
          <p:cNvPr id="16" name="Rounded Rectangle 15"/>
          <p:cNvSpPr/>
          <p:nvPr/>
        </p:nvSpPr>
        <p:spPr>
          <a:xfrm>
            <a:off x="8229600" y="1691640"/>
            <a:ext cx="3246120" cy="2057400"/>
          </a:xfrm>
          <a:prstGeom prst="roundRect">
            <a:avLst>
              <a:gd name="adj" fmla="val 8000"/>
            </a:avLst>
          </a:prstGeom>
          <a:solidFill>
            <a:srgbClr val="F1F6FA"/>
          </a:solidFill>
          <a:ln>
            <a:solidFill>
              <a:srgbClr val="DC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229600" y="1691640"/>
            <a:ext cx="82296" cy="2057400"/>
          </a:xfrm>
          <a:prstGeom prst="rect">
            <a:avLst/>
          </a:prstGeom>
          <a:solidFill>
            <a:srgbClr val="EFAE3D"/>
          </a:solidFill>
          <a:ln>
            <a:solidFill>
              <a:srgbClr val="EFAE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58200" y="1874520"/>
            <a:ext cx="411480" cy="384048"/>
          </a:xfrm>
          <a:prstGeom prst="rect">
            <a:avLst/>
          </a:prstGeom>
          <a:noFill/>
        </p:spPr>
        <p:txBody>
          <a:bodyPr wrap="square" lIns="36576" rIns="36576">
            <a:spAutoFit/>
          </a:bodyPr>
          <a:lstStyle/>
          <a:p>
            <a:pPr algn="ctr"/>
            <a:r>
              <a:rPr sz="2200" b="1">
                <a:solidFill>
                  <a:srgbClr val="EFAE3D"/>
                </a:solidFill>
                <a:latin typeface="Aptos"/>
              </a:rPr>
              <a:t>3</a:t>
            </a:r>
          </a:p>
        </p:txBody>
      </p:sp>
      <p:sp>
        <p:nvSpPr>
          <p:cNvPr id="19" name="TextBox 18"/>
          <p:cNvSpPr txBox="1"/>
          <p:nvPr/>
        </p:nvSpPr>
        <p:spPr>
          <a:xfrm>
            <a:off x="8961120" y="1856232"/>
            <a:ext cx="2331720" cy="320040"/>
          </a:xfrm>
          <a:prstGeom prst="rect">
            <a:avLst/>
          </a:prstGeom>
          <a:noFill/>
        </p:spPr>
        <p:txBody>
          <a:bodyPr wrap="square" lIns="36576" rIns="36576">
            <a:spAutoFit/>
          </a:bodyPr>
          <a:lstStyle/>
          <a:p>
            <a:pPr algn="l"/>
            <a:r>
              <a:rPr sz="1600" b="1">
                <a:solidFill>
                  <a:srgbClr val="122745"/>
                </a:solidFill>
                <a:latin typeface="Aptos"/>
              </a:rPr>
              <a:t>Additional information</a:t>
            </a:r>
          </a:p>
        </p:txBody>
      </p:sp>
      <p:sp>
        <p:nvSpPr>
          <p:cNvPr id="20" name="TextBox 19"/>
          <p:cNvSpPr txBox="1"/>
          <p:nvPr/>
        </p:nvSpPr>
        <p:spPr>
          <a:xfrm>
            <a:off x="8458200" y="2331720"/>
            <a:ext cx="2788920" cy="1234440"/>
          </a:xfrm>
          <a:prstGeom prst="rect">
            <a:avLst/>
          </a:prstGeom>
          <a:noFill/>
        </p:spPr>
        <p:txBody>
          <a:bodyPr wrap="square" lIns="36576" rIns="36576">
            <a:spAutoFit/>
          </a:bodyPr>
          <a:lstStyle/>
          <a:p>
            <a:pPr algn="l"/>
            <a:r>
              <a:rPr sz="1300" b="0">
                <a:solidFill>
                  <a:srgbClr val="232D3A"/>
                </a:solidFill>
                <a:latin typeface="Aptos"/>
              </a:rPr>
              <a:t>Condition and remarks for context.</a:t>
            </a:r>
          </a:p>
        </p:txBody>
      </p:sp>
      <p:sp>
        <p:nvSpPr>
          <p:cNvPr id="21" name="Rounded Rectangle 20"/>
          <p:cNvSpPr/>
          <p:nvPr/>
        </p:nvSpPr>
        <p:spPr>
          <a:xfrm>
            <a:off x="960120" y="4251960"/>
            <a:ext cx="10149840" cy="960120"/>
          </a:xfrm>
          <a:prstGeom prst="roundRect">
            <a:avLst>
              <a:gd name="adj" fmla="val 8000"/>
            </a:avLst>
          </a:prstGeom>
          <a:solidFill>
            <a:srgbClr val="EDF8F1"/>
          </a:solidFill>
          <a:ln>
            <a:solidFill>
              <a:srgbClr val="B8E0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280160" y="4507992"/>
            <a:ext cx="1554480" cy="228600"/>
          </a:xfrm>
          <a:prstGeom prst="rect">
            <a:avLst/>
          </a:prstGeom>
          <a:noFill/>
        </p:spPr>
        <p:txBody>
          <a:bodyPr wrap="square" lIns="36576" rIns="36576">
            <a:spAutoFit/>
          </a:bodyPr>
          <a:lstStyle/>
          <a:p>
            <a:pPr algn="l"/>
            <a:r>
              <a:rPr sz="1300" b="1">
                <a:solidFill>
                  <a:srgbClr val="2E8C57"/>
                </a:solidFill>
                <a:latin typeface="Aptos"/>
              </a:rPr>
              <a:t>System-generated</a:t>
            </a:r>
          </a:p>
        </p:txBody>
      </p:sp>
      <p:sp>
        <p:nvSpPr>
          <p:cNvPr id="23" name="TextBox 22"/>
          <p:cNvSpPr txBox="1"/>
          <p:nvPr/>
        </p:nvSpPr>
        <p:spPr>
          <a:xfrm>
            <a:off x="2971800" y="4443984"/>
            <a:ext cx="7680960" cy="347472"/>
          </a:xfrm>
          <a:prstGeom prst="rect">
            <a:avLst/>
          </a:prstGeom>
          <a:noFill/>
        </p:spPr>
        <p:txBody>
          <a:bodyPr wrap="square" lIns="36576" rIns="36576">
            <a:spAutoFit/>
          </a:bodyPr>
          <a:lstStyle/>
          <a:p>
            <a:pPr algn="l"/>
            <a:r>
              <a:rPr sz="1600" b="0">
                <a:solidFill>
                  <a:srgbClr val="232D3A"/>
                </a:solidFill>
                <a:latin typeface="Aptos"/>
              </a:rPr>
              <a:t>AssetControl generates a unique Asset Tag (for example, AST000123). The serial number must also be unique.</a:t>
            </a:r>
          </a:p>
        </p:txBody>
      </p:sp>
      <p:sp>
        <p:nvSpPr>
          <p:cNvPr id="24" name="TextBox 23"/>
          <p:cNvSpPr txBox="1"/>
          <p:nvPr/>
        </p:nvSpPr>
        <p:spPr>
          <a:xfrm>
            <a:off x="960120" y="5623560"/>
            <a:ext cx="9875520" cy="274320"/>
          </a:xfrm>
          <a:prstGeom prst="rect">
            <a:avLst/>
          </a:prstGeom>
          <a:noFill/>
        </p:spPr>
        <p:txBody>
          <a:bodyPr wrap="square" lIns="36576" rIns="36576">
            <a:spAutoFit/>
          </a:bodyPr>
          <a:lstStyle/>
          <a:p>
            <a:pPr algn="l"/>
            <a:r>
              <a:rPr sz="1400" b="0">
                <a:solidFill>
                  <a:srgbClr val="5F6E7D"/>
                </a:solidFill>
                <a:latin typeface="Aptos"/>
              </a:rPr>
              <a:t>Tip: record the serial number exactly as printed on the device or invoice.</a:t>
            </a:r>
          </a:p>
        </p:txBody>
      </p:sp>
      <p:sp>
        <p:nvSpPr>
          <p:cNvPr id="25" name="Rectangle 24"/>
          <p:cNvSpPr/>
          <p:nvPr/>
        </p:nvSpPr>
        <p:spPr>
          <a:xfrm>
            <a:off x="594360" y="6510528"/>
            <a:ext cx="10972800" cy="10972"/>
          </a:xfrm>
          <a:prstGeom prst="rect">
            <a:avLst/>
          </a:prstGeom>
          <a:solidFill>
            <a:srgbClr val="DCE4EB"/>
          </a:solidFill>
          <a:ln>
            <a:solidFill>
              <a:srgbClr val="DCE4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21792" y="6565392"/>
            <a:ext cx="3200400" cy="164592"/>
          </a:xfrm>
          <a:prstGeom prst="rect">
            <a:avLst/>
          </a:prstGeom>
          <a:noFill/>
        </p:spPr>
        <p:txBody>
          <a:bodyPr wrap="square" lIns="36576" rIns="36576">
            <a:spAutoFit/>
          </a:bodyPr>
          <a:lstStyle/>
          <a:p>
            <a:pPr algn="l"/>
            <a:r>
              <a:rPr sz="800" b="0">
                <a:solidFill>
                  <a:srgbClr val="5F6E7D"/>
                </a:solidFill>
                <a:latin typeface="Aptos"/>
              </a:rPr>
              <a:t>AssetControl user training</a:t>
            </a:r>
          </a:p>
        </p:txBody>
      </p:sp>
      <p:sp>
        <p:nvSpPr>
          <p:cNvPr id="27" name="TextBox 26"/>
          <p:cNvSpPr txBox="1"/>
          <p:nvPr/>
        </p:nvSpPr>
        <p:spPr>
          <a:xfrm>
            <a:off x="10972800" y="6547104"/>
            <a:ext cx="548640" cy="182880"/>
          </a:xfrm>
          <a:prstGeom prst="rect">
            <a:avLst/>
          </a:prstGeom>
          <a:noFill/>
        </p:spPr>
        <p:txBody>
          <a:bodyPr wrap="square" lIns="36576" rIns="36576">
            <a:spAutoFit/>
          </a:bodyPr>
          <a:lstStyle/>
          <a:p>
            <a:pPr algn="r"/>
            <a:r>
              <a:rPr sz="900" b="0">
                <a:solidFill>
                  <a:srgbClr val="5F6E7D"/>
                </a:solidFill>
                <a:latin typeface="Aptos"/>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09196"/>
          </a:solidFill>
          <a:ln>
            <a:solidFill>
              <a:srgbClr val="0091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38912"/>
            <a:ext cx="10789920" cy="502920"/>
          </a:xfrm>
          <a:prstGeom prst="rect">
            <a:avLst/>
          </a:prstGeom>
          <a:noFill/>
        </p:spPr>
        <p:txBody>
          <a:bodyPr wrap="square" lIns="36576" rIns="36576">
            <a:spAutoFit/>
          </a:bodyPr>
          <a:lstStyle/>
          <a:p>
            <a:pPr algn="l"/>
            <a:r>
              <a:rPr sz="2700" b="1">
                <a:solidFill>
                  <a:srgbClr val="122745"/>
                </a:solidFill>
                <a:latin typeface="Aptos"/>
              </a:rPr>
              <a:t>Search, review and update</a:t>
            </a:r>
          </a:p>
        </p:txBody>
      </p:sp>
      <p:sp>
        <p:nvSpPr>
          <p:cNvPr id="4" name="TextBox 3"/>
          <p:cNvSpPr txBox="1"/>
          <p:nvPr/>
        </p:nvSpPr>
        <p:spPr>
          <a:xfrm>
            <a:off x="621792" y="987552"/>
            <a:ext cx="10698480" cy="347472"/>
          </a:xfrm>
          <a:prstGeom prst="rect">
            <a:avLst/>
          </a:prstGeom>
          <a:noFill/>
        </p:spPr>
        <p:txBody>
          <a:bodyPr wrap="square" lIns="36576" rIns="36576">
            <a:spAutoFit/>
          </a:bodyPr>
          <a:lstStyle/>
          <a:p>
            <a:pPr algn="l"/>
            <a:r>
              <a:rPr sz="1300" b="0">
                <a:solidFill>
                  <a:srgbClr val="5F6E7D"/>
                </a:solidFill>
                <a:latin typeface="Aptos"/>
              </a:rPr>
              <a:t>The asset list is your daily control point.</a:t>
            </a:r>
          </a:p>
        </p:txBody>
      </p:sp>
      <p:sp>
        <p:nvSpPr>
          <p:cNvPr id="5" name="TextBox 4"/>
          <p:cNvSpPr txBox="1"/>
          <p:nvPr/>
        </p:nvSpPr>
        <p:spPr>
          <a:xfrm>
            <a:off x="10149840" y="475488"/>
            <a:ext cx="1417320" cy="256032"/>
          </a:xfrm>
          <a:prstGeom prst="rect">
            <a:avLst/>
          </a:prstGeom>
          <a:noFill/>
        </p:spPr>
        <p:txBody>
          <a:bodyPr wrap="square" lIns="36576" rIns="36576">
            <a:spAutoFit/>
          </a:bodyPr>
          <a:lstStyle/>
          <a:p>
            <a:pPr algn="r"/>
            <a:r>
              <a:rPr sz="900" b="1">
                <a:solidFill>
                  <a:srgbClr val="009196"/>
                </a:solidFill>
                <a:latin typeface="Aptos"/>
              </a:rPr>
              <a:t>WORKFLOW 2</a:t>
            </a:r>
          </a:p>
        </p:txBody>
      </p:sp>
      <p:sp>
        <p:nvSpPr>
          <p:cNvPr id="6" name="Rounded Rectangle 5"/>
          <p:cNvSpPr/>
          <p:nvPr/>
        </p:nvSpPr>
        <p:spPr>
          <a:xfrm>
            <a:off x="777240" y="1600200"/>
            <a:ext cx="5074920" cy="1508760"/>
          </a:xfrm>
          <a:prstGeom prst="roundRect">
            <a:avLst>
              <a:gd name="adj" fmla="val 8000"/>
            </a:avLst>
          </a:prstGeom>
          <a:solidFill>
            <a:srgbClr val="F1F6FA"/>
          </a:solidFill>
          <a:ln>
            <a:solidFill>
              <a:srgbClr val="DC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00200"/>
            <a:ext cx="82296" cy="1508760"/>
          </a:xfrm>
          <a:prstGeom prst="rect">
            <a:avLst/>
          </a:prstGeom>
          <a:solidFill>
            <a:srgbClr val="2669AB"/>
          </a:solidFill>
          <a:ln>
            <a:solidFill>
              <a:srgbClr val="2669A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764792"/>
            <a:ext cx="4617720" cy="320040"/>
          </a:xfrm>
          <a:prstGeom prst="rect">
            <a:avLst/>
          </a:prstGeom>
          <a:noFill/>
        </p:spPr>
        <p:txBody>
          <a:bodyPr wrap="square" lIns="36576" rIns="36576">
            <a:spAutoFit/>
          </a:bodyPr>
          <a:lstStyle/>
          <a:p>
            <a:pPr algn="l"/>
            <a:r>
              <a:rPr sz="1600" b="1">
                <a:solidFill>
                  <a:srgbClr val="122745"/>
                </a:solidFill>
                <a:latin typeface="Aptos"/>
              </a:rPr>
              <a:t>Search</a:t>
            </a:r>
          </a:p>
        </p:txBody>
      </p:sp>
      <p:sp>
        <p:nvSpPr>
          <p:cNvPr id="9" name="TextBox 8"/>
          <p:cNvSpPr txBox="1"/>
          <p:nvPr/>
        </p:nvSpPr>
        <p:spPr>
          <a:xfrm>
            <a:off x="1005840" y="2240280"/>
            <a:ext cx="4617720" cy="685799"/>
          </a:xfrm>
          <a:prstGeom prst="rect">
            <a:avLst/>
          </a:prstGeom>
          <a:noFill/>
        </p:spPr>
        <p:txBody>
          <a:bodyPr wrap="square" lIns="36576" rIns="36576">
            <a:spAutoFit/>
          </a:bodyPr>
          <a:lstStyle/>
          <a:p>
            <a:pPr algn="l"/>
            <a:r>
              <a:rPr sz="1300" b="0">
                <a:solidFill>
                  <a:srgbClr val="232D3A"/>
                </a:solidFill>
                <a:latin typeface="Aptos"/>
              </a:rPr>
              <a:t>Search by asset tag, serial number or other visible record details.</a:t>
            </a:r>
          </a:p>
        </p:txBody>
      </p:sp>
      <p:sp>
        <p:nvSpPr>
          <p:cNvPr id="10" name="Rounded Rectangle 9"/>
          <p:cNvSpPr/>
          <p:nvPr/>
        </p:nvSpPr>
        <p:spPr>
          <a:xfrm>
            <a:off x="6263640" y="1600200"/>
            <a:ext cx="5074920" cy="1508760"/>
          </a:xfrm>
          <a:prstGeom prst="roundRect">
            <a:avLst>
              <a:gd name="adj" fmla="val 8000"/>
            </a:avLst>
          </a:prstGeom>
          <a:solidFill>
            <a:srgbClr val="F1F6FA"/>
          </a:solidFill>
          <a:ln>
            <a:solidFill>
              <a:srgbClr val="DC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63640" y="1600200"/>
            <a:ext cx="82296" cy="1508760"/>
          </a:xfrm>
          <a:prstGeom prst="rect">
            <a:avLst/>
          </a:prstGeom>
          <a:solidFill>
            <a:srgbClr val="009196"/>
          </a:solidFill>
          <a:ln>
            <a:solidFill>
              <a:srgbClr val="0091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92240" y="1764792"/>
            <a:ext cx="4617720" cy="320040"/>
          </a:xfrm>
          <a:prstGeom prst="rect">
            <a:avLst/>
          </a:prstGeom>
          <a:noFill/>
        </p:spPr>
        <p:txBody>
          <a:bodyPr wrap="square" lIns="36576" rIns="36576">
            <a:spAutoFit/>
          </a:bodyPr>
          <a:lstStyle/>
          <a:p>
            <a:pPr algn="l"/>
            <a:r>
              <a:rPr sz="1600" b="1">
                <a:solidFill>
                  <a:srgbClr val="122745"/>
                </a:solidFill>
                <a:latin typeface="Aptos"/>
              </a:rPr>
              <a:t>Review</a:t>
            </a:r>
          </a:p>
        </p:txBody>
      </p:sp>
      <p:sp>
        <p:nvSpPr>
          <p:cNvPr id="13" name="TextBox 12"/>
          <p:cNvSpPr txBox="1"/>
          <p:nvPr/>
        </p:nvSpPr>
        <p:spPr>
          <a:xfrm>
            <a:off x="6492240" y="2240280"/>
            <a:ext cx="4617720" cy="685799"/>
          </a:xfrm>
          <a:prstGeom prst="rect">
            <a:avLst/>
          </a:prstGeom>
          <a:noFill/>
        </p:spPr>
        <p:txBody>
          <a:bodyPr wrap="square" lIns="36576" rIns="36576">
            <a:spAutoFit/>
          </a:bodyPr>
          <a:lstStyle/>
          <a:p>
            <a:pPr algn="l"/>
            <a:r>
              <a:rPr sz="1300" b="0">
                <a:solidFill>
                  <a:srgbClr val="232D3A"/>
                </a:solidFill>
                <a:latin typeface="Aptos"/>
              </a:rPr>
              <a:t>Use the table columns to compare model, country, status and condition.</a:t>
            </a:r>
          </a:p>
        </p:txBody>
      </p:sp>
      <p:sp>
        <p:nvSpPr>
          <p:cNvPr id="14" name="Rounded Rectangle 13"/>
          <p:cNvSpPr/>
          <p:nvPr/>
        </p:nvSpPr>
        <p:spPr>
          <a:xfrm>
            <a:off x="777240" y="3474720"/>
            <a:ext cx="5074920" cy="1508760"/>
          </a:xfrm>
          <a:prstGeom prst="roundRect">
            <a:avLst>
              <a:gd name="adj" fmla="val 8000"/>
            </a:avLst>
          </a:prstGeom>
          <a:solidFill>
            <a:srgbClr val="F1F6FA"/>
          </a:solidFill>
          <a:ln>
            <a:solidFill>
              <a:srgbClr val="DC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474720"/>
            <a:ext cx="82296" cy="1508760"/>
          </a:xfrm>
          <a:prstGeom prst="rect">
            <a:avLst/>
          </a:prstGeom>
          <a:solidFill>
            <a:srgbClr val="EFAE3D"/>
          </a:solidFill>
          <a:ln>
            <a:solidFill>
              <a:srgbClr val="EFAE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05840" y="3639312"/>
            <a:ext cx="4617720" cy="320040"/>
          </a:xfrm>
          <a:prstGeom prst="rect">
            <a:avLst/>
          </a:prstGeom>
          <a:noFill/>
        </p:spPr>
        <p:txBody>
          <a:bodyPr wrap="square" lIns="36576" rIns="36576">
            <a:spAutoFit/>
          </a:bodyPr>
          <a:lstStyle/>
          <a:p>
            <a:pPr algn="l"/>
            <a:r>
              <a:rPr sz="1600" b="1">
                <a:solidFill>
                  <a:srgbClr val="122745"/>
                </a:solidFill>
                <a:latin typeface="Aptos"/>
              </a:rPr>
              <a:t>Open</a:t>
            </a:r>
          </a:p>
        </p:txBody>
      </p:sp>
      <p:sp>
        <p:nvSpPr>
          <p:cNvPr id="17" name="TextBox 16"/>
          <p:cNvSpPr txBox="1"/>
          <p:nvPr/>
        </p:nvSpPr>
        <p:spPr>
          <a:xfrm>
            <a:off x="1005840" y="4114800"/>
            <a:ext cx="4617720" cy="685799"/>
          </a:xfrm>
          <a:prstGeom prst="rect">
            <a:avLst/>
          </a:prstGeom>
          <a:noFill/>
        </p:spPr>
        <p:txBody>
          <a:bodyPr wrap="square" lIns="36576" rIns="36576">
            <a:spAutoFit/>
          </a:bodyPr>
          <a:lstStyle/>
          <a:p>
            <a:pPr algn="l"/>
            <a:r>
              <a:rPr sz="1300" b="0">
                <a:solidFill>
                  <a:srgbClr val="232D3A"/>
                </a:solidFill>
                <a:latin typeface="Aptos"/>
              </a:rPr>
              <a:t>Select View for read-only details, or Edit to change the record.</a:t>
            </a:r>
          </a:p>
        </p:txBody>
      </p:sp>
      <p:sp>
        <p:nvSpPr>
          <p:cNvPr id="18" name="Rounded Rectangle 17"/>
          <p:cNvSpPr/>
          <p:nvPr/>
        </p:nvSpPr>
        <p:spPr>
          <a:xfrm>
            <a:off x="6263640" y="3474720"/>
            <a:ext cx="5074920" cy="1508760"/>
          </a:xfrm>
          <a:prstGeom prst="roundRect">
            <a:avLst>
              <a:gd name="adj" fmla="val 8000"/>
            </a:avLst>
          </a:prstGeom>
          <a:solidFill>
            <a:srgbClr val="F1F6FA"/>
          </a:solidFill>
          <a:ln>
            <a:solidFill>
              <a:srgbClr val="DC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63640" y="3474720"/>
            <a:ext cx="82296" cy="1508760"/>
          </a:xfrm>
          <a:prstGeom prst="rect">
            <a:avLst/>
          </a:prstGeom>
          <a:solidFill>
            <a:srgbClr val="2E8C57"/>
          </a:solidFill>
          <a:ln>
            <a:solidFill>
              <a:srgbClr val="2E8C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92240" y="3639312"/>
            <a:ext cx="4617720" cy="320040"/>
          </a:xfrm>
          <a:prstGeom prst="rect">
            <a:avLst/>
          </a:prstGeom>
          <a:noFill/>
        </p:spPr>
        <p:txBody>
          <a:bodyPr wrap="square" lIns="36576" rIns="36576">
            <a:spAutoFit/>
          </a:bodyPr>
          <a:lstStyle/>
          <a:p>
            <a:pPr algn="l"/>
            <a:r>
              <a:rPr sz="1600" b="1">
                <a:solidFill>
                  <a:srgbClr val="122745"/>
                </a:solidFill>
                <a:latin typeface="Aptos"/>
              </a:rPr>
              <a:t>Confirm</a:t>
            </a:r>
          </a:p>
        </p:txBody>
      </p:sp>
      <p:sp>
        <p:nvSpPr>
          <p:cNvPr id="21" name="TextBox 20"/>
          <p:cNvSpPr txBox="1"/>
          <p:nvPr/>
        </p:nvSpPr>
        <p:spPr>
          <a:xfrm>
            <a:off x="6492240" y="4114800"/>
            <a:ext cx="4617720" cy="685799"/>
          </a:xfrm>
          <a:prstGeom prst="rect">
            <a:avLst/>
          </a:prstGeom>
          <a:noFill/>
        </p:spPr>
        <p:txBody>
          <a:bodyPr wrap="square" lIns="36576" rIns="36576">
            <a:spAutoFit/>
          </a:bodyPr>
          <a:lstStyle/>
          <a:p>
            <a:pPr algn="l"/>
            <a:r>
              <a:rPr sz="1300" b="0">
                <a:solidFill>
                  <a:srgbClr val="232D3A"/>
                </a:solidFill>
                <a:latin typeface="Aptos"/>
              </a:rPr>
              <a:t>Save changes and check the resulting status/condition.</a:t>
            </a:r>
          </a:p>
        </p:txBody>
      </p:sp>
      <p:sp>
        <p:nvSpPr>
          <p:cNvPr id="22" name="Rounded Rectangle 21"/>
          <p:cNvSpPr/>
          <p:nvPr/>
        </p:nvSpPr>
        <p:spPr>
          <a:xfrm>
            <a:off x="914400" y="5486400"/>
            <a:ext cx="10058400" cy="566928"/>
          </a:xfrm>
          <a:prstGeom prst="roundRect">
            <a:avLst>
              <a:gd name="adj" fmla="val 8000"/>
            </a:avLst>
          </a:prstGeom>
          <a:solidFill>
            <a:srgbClr val="FFF4F4"/>
          </a:solidFill>
          <a:ln>
            <a:solidFill>
              <a:srgbClr val="EEC3C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188720" y="5669280"/>
            <a:ext cx="914400" cy="182880"/>
          </a:xfrm>
          <a:prstGeom prst="rect">
            <a:avLst/>
          </a:prstGeom>
          <a:noFill/>
        </p:spPr>
        <p:txBody>
          <a:bodyPr wrap="square" lIns="36576" rIns="36576">
            <a:spAutoFit/>
          </a:bodyPr>
          <a:lstStyle/>
          <a:p>
            <a:pPr algn="l"/>
            <a:r>
              <a:rPr sz="1200" b="1">
                <a:solidFill>
                  <a:srgbClr val="BE4646"/>
                </a:solidFill>
                <a:latin typeface="Aptos"/>
              </a:rPr>
              <a:t>Important</a:t>
            </a:r>
          </a:p>
        </p:txBody>
      </p:sp>
      <p:sp>
        <p:nvSpPr>
          <p:cNvPr id="24" name="TextBox 23"/>
          <p:cNvSpPr txBox="1"/>
          <p:nvPr/>
        </p:nvSpPr>
        <p:spPr>
          <a:xfrm>
            <a:off x="2286000" y="5623560"/>
            <a:ext cx="8138160" cy="228600"/>
          </a:xfrm>
          <a:prstGeom prst="rect">
            <a:avLst/>
          </a:prstGeom>
          <a:noFill/>
        </p:spPr>
        <p:txBody>
          <a:bodyPr wrap="square" lIns="36576" rIns="36576">
            <a:spAutoFit/>
          </a:bodyPr>
          <a:lstStyle/>
          <a:p>
            <a:pPr algn="l"/>
            <a:r>
              <a:rPr sz="1400" b="0">
                <a:solidFill>
                  <a:srgbClr val="232D3A"/>
                </a:solidFill>
                <a:latin typeface="Aptos"/>
              </a:rPr>
              <a:t>Do not create a second record when an asset already exists; search by serial number first.</a:t>
            </a:r>
          </a:p>
        </p:txBody>
      </p:sp>
      <p:sp>
        <p:nvSpPr>
          <p:cNvPr id="25" name="Rectangle 24"/>
          <p:cNvSpPr/>
          <p:nvPr/>
        </p:nvSpPr>
        <p:spPr>
          <a:xfrm>
            <a:off x="594360" y="6510528"/>
            <a:ext cx="10972800" cy="10972"/>
          </a:xfrm>
          <a:prstGeom prst="rect">
            <a:avLst/>
          </a:prstGeom>
          <a:solidFill>
            <a:srgbClr val="DCE4EB"/>
          </a:solidFill>
          <a:ln>
            <a:solidFill>
              <a:srgbClr val="DCE4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21792" y="6565392"/>
            <a:ext cx="3200400" cy="164592"/>
          </a:xfrm>
          <a:prstGeom prst="rect">
            <a:avLst/>
          </a:prstGeom>
          <a:noFill/>
        </p:spPr>
        <p:txBody>
          <a:bodyPr wrap="square" lIns="36576" rIns="36576">
            <a:spAutoFit/>
          </a:bodyPr>
          <a:lstStyle/>
          <a:p>
            <a:pPr algn="l"/>
            <a:r>
              <a:rPr sz="800" b="0">
                <a:solidFill>
                  <a:srgbClr val="5F6E7D"/>
                </a:solidFill>
                <a:latin typeface="Aptos"/>
              </a:rPr>
              <a:t>AssetControl user training</a:t>
            </a:r>
          </a:p>
        </p:txBody>
      </p:sp>
      <p:sp>
        <p:nvSpPr>
          <p:cNvPr id="27" name="TextBox 26"/>
          <p:cNvSpPr txBox="1"/>
          <p:nvPr/>
        </p:nvSpPr>
        <p:spPr>
          <a:xfrm>
            <a:off x="10972800" y="6547104"/>
            <a:ext cx="548640" cy="182880"/>
          </a:xfrm>
          <a:prstGeom prst="rect">
            <a:avLst/>
          </a:prstGeom>
          <a:noFill/>
        </p:spPr>
        <p:txBody>
          <a:bodyPr wrap="square" lIns="36576" rIns="36576">
            <a:spAutoFit/>
          </a:bodyPr>
          <a:lstStyle/>
          <a:p>
            <a:pPr algn="r"/>
            <a:r>
              <a:rPr sz="900" b="0">
                <a:solidFill>
                  <a:srgbClr val="5F6E7D"/>
                </a:solidFill>
                <a:latin typeface="Aptos"/>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09196"/>
          </a:solidFill>
          <a:ln>
            <a:solidFill>
              <a:srgbClr val="0091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38912"/>
            <a:ext cx="10789920" cy="502920"/>
          </a:xfrm>
          <a:prstGeom prst="rect">
            <a:avLst/>
          </a:prstGeom>
          <a:noFill/>
        </p:spPr>
        <p:txBody>
          <a:bodyPr wrap="square" lIns="36576" rIns="36576">
            <a:spAutoFit/>
          </a:bodyPr>
          <a:lstStyle/>
          <a:p>
            <a:pPr algn="l"/>
            <a:r>
              <a:rPr sz="2700" b="1">
                <a:solidFill>
                  <a:srgbClr val="122745"/>
                </a:solidFill>
                <a:latin typeface="Aptos"/>
              </a:rPr>
              <a:t>Assign an asset to an employee or site</a:t>
            </a:r>
          </a:p>
        </p:txBody>
      </p:sp>
      <p:sp>
        <p:nvSpPr>
          <p:cNvPr id="4" name="TextBox 3"/>
          <p:cNvSpPr txBox="1"/>
          <p:nvPr/>
        </p:nvSpPr>
        <p:spPr>
          <a:xfrm>
            <a:off x="621792" y="987552"/>
            <a:ext cx="10698480" cy="347472"/>
          </a:xfrm>
          <a:prstGeom prst="rect">
            <a:avLst/>
          </a:prstGeom>
          <a:noFill/>
        </p:spPr>
        <p:txBody>
          <a:bodyPr wrap="square" lIns="36576" rIns="36576">
            <a:spAutoFit/>
          </a:bodyPr>
          <a:lstStyle/>
          <a:p>
            <a:pPr algn="l"/>
            <a:r>
              <a:rPr sz="1300" b="0">
                <a:solidFill>
                  <a:srgbClr val="5F6E7D"/>
                </a:solidFill>
                <a:latin typeface="Aptos"/>
              </a:rPr>
              <a:t>Assignment records who has custody and when that custody began.</a:t>
            </a:r>
          </a:p>
        </p:txBody>
      </p:sp>
      <p:sp>
        <p:nvSpPr>
          <p:cNvPr id="5" name="TextBox 4"/>
          <p:cNvSpPr txBox="1"/>
          <p:nvPr/>
        </p:nvSpPr>
        <p:spPr>
          <a:xfrm>
            <a:off x="10149840" y="475488"/>
            <a:ext cx="1417320" cy="256032"/>
          </a:xfrm>
          <a:prstGeom prst="rect">
            <a:avLst/>
          </a:prstGeom>
          <a:noFill/>
        </p:spPr>
        <p:txBody>
          <a:bodyPr wrap="square" lIns="36576" rIns="36576">
            <a:spAutoFit/>
          </a:bodyPr>
          <a:lstStyle/>
          <a:p>
            <a:pPr algn="r"/>
            <a:r>
              <a:rPr sz="900" b="1">
                <a:solidFill>
                  <a:srgbClr val="009196"/>
                </a:solidFill>
                <a:latin typeface="Aptos"/>
              </a:rPr>
              <a:t>WORKFLOW 3</a:t>
            </a:r>
          </a:p>
        </p:txBody>
      </p:sp>
      <p:sp>
        <p:nvSpPr>
          <p:cNvPr id="6" name="Rounded Rectangle 5"/>
          <p:cNvSpPr/>
          <p:nvPr/>
        </p:nvSpPr>
        <p:spPr>
          <a:xfrm>
            <a:off x="822960" y="1600200"/>
            <a:ext cx="2743200" cy="3886200"/>
          </a:xfrm>
          <a:prstGeom prst="roundRect">
            <a:avLst>
              <a:gd name="adj" fmla="val 8000"/>
            </a:avLst>
          </a:prstGeom>
          <a:solidFill>
            <a:srgbClr val="EBF4FC"/>
          </a:solidFill>
          <a:ln>
            <a:solidFill>
              <a:srgbClr val="C5DA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1920240"/>
            <a:ext cx="2194560" cy="320040"/>
          </a:xfrm>
          <a:prstGeom prst="rect">
            <a:avLst/>
          </a:prstGeom>
          <a:noFill/>
        </p:spPr>
        <p:txBody>
          <a:bodyPr wrap="square" lIns="36576" rIns="36576">
            <a:spAutoFit/>
          </a:bodyPr>
          <a:lstStyle/>
          <a:p>
            <a:pPr algn="ctr"/>
            <a:r>
              <a:rPr sz="1800" b="1">
                <a:solidFill>
                  <a:srgbClr val="2E8C57"/>
                </a:solidFill>
                <a:latin typeface="Aptos"/>
              </a:rPr>
              <a:t>AVAILABLE</a:t>
            </a:r>
          </a:p>
        </p:txBody>
      </p:sp>
      <p:sp>
        <p:nvSpPr>
          <p:cNvPr id="8" name="TextBox 7"/>
          <p:cNvSpPr txBox="1"/>
          <p:nvPr/>
        </p:nvSpPr>
        <p:spPr>
          <a:xfrm>
            <a:off x="1188720" y="2423160"/>
            <a:ext cx="2011680" cy="228600"/>
          </a:xfrm>
          <a:prstGeom prst="rect">
            <a:avLst/>
          </a:prstGeom>
          <a:noFill/>
        </p:spPr>
        <p:txBody>
          <a:bodyPr wrap="square" lIns="36576" rIns="36576">
            <a:spAutoFit/>
          </a:bodyPr>
          <a:lstStyle/>
          <a:p>
            <a:pPr algn="ctr"/>
            <a:r>
              <a:rPr sz="1300" b="0">
                <a:solidFill>
                  <a:srgbClr val="232D3A"/>
                </a:solidFill>
                <a:latin typeface="Aptos"/>
              </a:rPr>
              <a:t>Asset is ready for use</a:t>
            </a:r>
          </a:p>
        </p:txBody>
      </p:sp>
      <p:sp>
        <p:nvSpPr>
          <p:cNvPr id="9" name="TextBox 8"/>
          <p:cNvSpPr txBox="1"/>
          <p:nvPr/>
        </p:nvSpPr>
        <p:spPr>
          <a:xfrm>
            <a:off x="3703320" y="2971800"/>
            <a:ext cx="640080" cy="457200"/>
          </a:xfrm>
          <a:prstGeom prst="rect">
            <a:avLst/>
          </a:prstGeom>
          <a:noFill/>
        </p:spPr>
        <p:txBody>
          <a:bodyPr wrap="square" lIns="36576" rIns="36576">
            <a:spAutoFit/>
          </a:bodyPr>
          <a:lstStyle/>
          <a:p>
            <a:pPr algn="ctr"/>
            <a:r>
              <a:rPr sz="3400" b="1">
                <a:solidFill>
                  <a:srgbClr val="009196"/>
                </a:solidFill>
                <a:latin typeface="Aptos"/>
              </a:rPr>
              <a:t>?</a:t>
            </a:r>
          </a:p>
        </p:txBody>
      </p:sp>
      <p:sp>
        <p:nvSpPr>
          <p:cNvPr id="10" name="Rounded Rectangle 9"/>
          <p:cNvSpPr/>
          <p:nvPr/>
        </p:nvSpPr>
        <p:spPr>
          <a:xfrm>
            <a:off x="4434840" y="1600200"/>
            <a:ext cx="2743200" cy="3886200"/>
          </a:xfrm>
          <a:prstGeom prst="roundRect">
            <a:avLst>
              <a:gd name="adj" fmla="val 8000"/>
            </a:avLst>
          </a:prstGeom>
          <a:solidFill>
            <a:srgbClr val="FFF8E6"/>
          </a:solidFill>
          <a:ln>
            <a:solidFill>
              <a:srgbClr val="F5DA9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800600" y="1920240"/>
            <a:ext cx="2011680" cy="320040"/>
          </a:xfrm>
          <a:prstGeom prst="rect">
            <a:avLst/>
          </a:prstGeom>
          <a:noFill/>
        </p:spPr>
        <p:txBody>
          <a:bodyPr wrap="square" lIns="36576" rIns="36576">
            <a:spAutoFit/>
          </a:bodyPr>
          <a:lstStyle/>
          <a:p>
            <a:pPr algn="ctr"/>
            <a:r>
              <a:rPr sz="1800" b="1">
                <a:solidFill>
                  <a:srgbClr val="EFAE3D"/>
                </a:solidFill>
                <a:latin typeface="Aptos"/>
              </a:rPr>
              <a:t>ASSIGN</a:t>
            </a:r>
          </a:p>
        </p:txBody>
      </p:sp>
      <p:sp>
        <p:nvSpPr>
          <p:cNvPr id="12" name="TextBox 11"/>
          <p:cNvSpPr txBox="1"/>
          <p:nvPr/>
        </p:nvSpPr>
        <p:spPr>
          <a:xfrm>
            <a:off x="4800600" y="2560320"/>
            <a:ext cx="2057400" cy="2286000"/>
          </a:xfrm>
          <a:prstGeom prst="rect">
            <a:avLst/>
          </a:prstGeom>
          <a:noFill/>
        </p:spPr>
        <p:txBody>
          <a:bodyPr wrap="square" lIns="73152" rIns="36576">
            <a:spAutoFit/>
          </a:bodyPr>
          <a:lstStyle/>
          <a:p>
            <a:pPr>
              <a:spcAft>
                <a:spcPts val="700"/>
              </a:spcAft>
              <a:defRPr sz="1400">
                <a:solidFill>
                  <a:srgbClr val="232D3A"/>
                </a:solidFill>
                <a:latin typeface="Aptos"/>
              </a:defRPr>
            </a:pPr>
            <a:r>
              <a:t>Choose the asset</a:t>
            </a:r>
          </a:p>
          <a:p>
            <a:pPr>
              <a:spcAft>
                <a:spcPts val="700"/>
              </a:spcAft>
              <a:defRPr sz="1400">
                <a:solidFill>
                  <a:srgbClr val="232D3A"/>
                </a:solidFill>
                <a:latin typeface="Aptos"/>
              </a:defRPr>
            </a:pPr>
            <a:r>
              <a:t>Select Employee or Site</a:t>
            </a:r>
          </a:p>
          <a:p>
            <a:pPr>
              <a:spcAft>
                <a:spcPts val="700"/>
              </a:spcAft>
              <a:defRPr sz="1400">
                <a:solidFill>
                  <a:srgbClr val="232D3A"/>
                </a:solidFill>
                <a:latin typeface="Aptos"/>
              </a:defRPr>
            </a:pPr>
            <a:r>
              <a:t>Enter assigned date</a:t>
            </a:r>
          </a:p>
          <a:p>
            <a:pPr>
              <a:spcAft>
                <a:spcPts val="700"/>
              </a:spcAft>
              <a:defRPr sz="1400">
                <a:solidFill>
                  <a:srgbClr val="232D3A"/>
                </a:solidFill>
                <a:latin typeface="Aptos"/>
              </a:defRPr>
            </a:pPr>
            <a:r>
              <a:t>Add expected return date</a:t>
            </a:r>
          </a:p>
          <a:p>
            <a:pPr>
              <a:spcAft>
                <a:spcPts val="700"/>
              </a:spcAft>
              <a:defRPr sz="1400">
                <a:solidFill>
                  <a:srgbClr val="232D3A"/>
                </a:solidFill>
                <a:latin typeface="Aptos"/>
              </a:defRPr>
            </a:pPr>
            <a:r>
              <a:t>Save remarks</a:t>
            </a:r>
          </a:p>
        </p:txBody>
      </p:sp>
      <p:sp>
        <p:nvSpPr>
          <p:cNvPr id="13" name="TextBox 12"/>
          <p:cNvSpPr txBox="1"/>
          <p:nvPr/>
        </p:nvSpPr>
        <p:spPr>
          <a:xfrm>
            <a:off x="7315200" y="2971800"/>
            <a:ext cx="640080" cy="457200"/>
          </a:xfrm>
          <a:prstGeom prst="rect">
            <a:avLst/>
          </a:prstGeom>
          <a:noFill/>
        </p:spPr>
        <p:txBody>
          <a:bodyPr wrap="square" lIns="36576" rIns="36576">
            <a:spAutoFit/>
          </a:bodyPr>
          <a:lstStyle/>
          <a:p>
            <a:pPr algn="ctr"/>
            <a:r>
              <a:rPr sz="3400" b="1">
                <a:solidFill>
                  <a:srgbClr val="009196"/>
                </a:solidFill>
                <a:latin typeface="Aptos"/>
              </a:rPr>
              <a:t>?</a:t>
            </a:r>
          </a:p>
        </p:txBody>
      </p:sp>
      <p:sp>
        <p:nvSpPr>
          <p:cNvPr id="14" name="Rounded Rectangle 13"/>
          <p:cNvSpPr/>
          <p:nvPr/>
        </p:nvSpPr>
        <p:spPr>
          <a:xfrm>
            <a:off x="8046720" y="1600200"/>
            <a:ext cx="2743200" cy="3886200"/>
          </a:xfrm>
          <a:prstGeom prst="roundRect">
            <a:avLst>
              <a:gd name="adj" fmla="val 8000"/>
            </a:avLst>
          </a:prstGeom>
          <a:solidFill>
            <a:srgbClr val="EDF8F1"/>
          </a:solidFill>
          <a:ln>
            <a:solidFill>
              <a:srgbClr val="B8E0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66760" y="1920240"/>
            <a:ext cx="2103120" cy="320040"/>
          </a:xfrm>
          <a:prstGeom prst="rect">
            <a:avLst/>
          </a:prstGeom>
          <a:noFill/>
        </p:spPr>
        <p:txBody>
          <a:bodyPr wrap="square" lIns="36576" rIns="36576">
            <a:spAutoFit/>
          </a:bodyPr>
          <a:lstStyle/>
          <a:p>
            <a:pPr algn="ctr"/>
            <a:r>
              <a:rPr sz="1800" b="1">
                <a:solidFill>
                  <a:srgbClr val="2669AB"/>
                </a:solidFill>
                <a:latin typeface="Aptos"/>
              </a:rPr>
              <a:t>ASSIGNED</a:t>
            </a:r>
          </a:p>
        </p:txBody>
      </p:sp>
      <p:sp>
        <p:nvSpPr>
          <p:cNvPr id="16" name="TextBox 15"/>
          <p:cNvSpPr txBox="1"/>
          <p:nvPr/>
        </p:nvSpPr>
        <p:spPr>
          <a:xfrm>
            <a:off x="8366760" y="2514600"/>
            <a:ext cx="2103120" cy="502920"/>
          </a:xfrm>
          <a:prstGeom prst="rect">
            <a:avLst/>
          </a:prstGeom>
          <a:noFill/>
        </p:spPr>
        <p:txBody>
          <a:bodyPr wrap="square" lIns="36576" rIns="36576">
            <a:spAutoFit/>
          </a:bodyPr>
          <a:lstStyle/>
          <a:p>
            <a:pPr algn="ctr"/>
            <a:r>
              <a:rPr sz="1500" b="0">
                <a:solidFill>
                  <a:srgbClr val="232D3A"/>
                </a:solidFill>
                <a:latin typeface="Aptos"/>
              </a:rPr>
              <a:t>Custody is visible in Assignments</a:t>
            </a:r>
          </a:p>
        </p:txBody>
      </p:sp>
      <p:sp>
        <p:nvSpPr>
          <p:cNvPr id="17" name="TextBox 16"/>
          <p:cNvSpPr txBox="1"/>
          <p:nvPr/>
        </p:nvSpPr>
        <p:spPr>
          <a:xfrm>
            <a:off x="8366760" y="3794760"/>
            <a:ext cx="2103120" cy="457200"/>
          </a:xfrm>
          <a:prstGeom prst="rect">
            <a:avLst/>
          </a:prstGeom>
          <a:noFill/>
        </p:spPr>
        <p:txBody>
          <a:bodyPr wrap="square" lIns="36576" rIns="36576">
            <a:spAutoFit/>
          </a:bodyPr>
          <a:lstStyle/>
          <a:p>
            <a:pPr algn="ctr"/>
            <a:r>
              <a:rPr sz="1400" b="0">
                <a:solidFill>
                  <a:srgbClr val="5F6E7D"/>
                </a:solidFill>
                <a:latin typeface="Aptos"/>
              </a:rPr>
              <a:t>Use Return Asset when custody ends.</a:t>
            </a:r>
          </a:p>
        </p:txBody>
      </p:sp>
      <p:sp>
        <p:nvSpPr>
          <p:cNvPr id="18" name="Rectangle 17"/>
          <p:cNvSpPr/>
          <p:nvPr/>
        </p:nvSpPr>
        <p:spPr>
          <a:xfrm>
            <a:off x="594360" y="6510528"/>
            <a:ext cx="10972800" cy="10972"/>
          </a:xfrm>
          <a:prstGeom prst="rect">
            <a:avLst/>
          </a:prstGeom>
          <a:solidFill>
            <a:srgbClr val="DCE4EB"/>
          </a:solidFill>
          <a:ln>
            <a:solidFill>
              <a:srgbClr val="DCE4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1792" y="6565392"/>
            <a:ext cx="3200400" cy="164592"/>
          </a:xfrm>
          <a:prstGeom prst="rect">
            <a:avLst/>
          </a:prstGeom>
          <a:noFill/>
        </p:spPr>
        <p:txBody>
          <a:bodyPr wrap="square" lIns="36576" rIns="36576">
            <a:spAutoFit/>
          </a:bodyPr>
          <a:lstStyle/>
          <a:p>
            <a:pPr algn="l"/>
            <a:r>
              <a:rPr sz="800" b="0">
                <a:solidFill>
                  <a:srgbClr val="5F6E7D"/>
                </a:solidFill>
                <a:latin typeface="Aptos"/>
              </a:rPr>
              <a:t>AssetControl user training</a:t>
            </a:r>
          </a:p>
        </p:txBody>
      </p:sp>
      <p:sp>
        <p:nvSpPr>
          <p:cNvPr id="20" name="TextBox 19"/>
          <p:cNvSpPr txBox="1"/>
          <p:nvPr/>
        </p:nvSpPr>
        <p:spPr>
          <a:xfrm>
            <a:off x="10972800" y="6547104"/>
            <a:ext cx="548640" cy="182880"/>
          </a:xfrm>
          <a:prstGeom prst="rect">
            <a:avLst/>
          </a:prstGeom>
          <a:noFill/>
        </p:spPr>
        <p:txBody>
          <a:bodyPr wrap="square" lIns="36576" rIns="36576">
            <a:spAutoFit/>
          </a:bodyPr>
          <a:lstStyle/>
          <a:p>
            <a:pPr algn="r"/>
            <a:r>
              <a:rPr sz="900" b="0">
                <a:solidFill>
                  <a:srgbClr val="5F6E7D"/>
                </a:solidFill>
                <a:latin typeface="Aptos"/>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09196"/>
          </a:solidFill>
          <a:ln>
            <a:solidFill>
              <a:srgbClr val="0091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38912"/>
            <a:ext cx="10789920" cy="502920"/>
          </a:xfrm>
          <a:prstGeom prst="rect">
            <a:avLst/>
          </a:prstGeom>
          <a:noFill/>
        </p:spPr>
        <p:txBody>
          <a:bodyPr wrap="square" lIns="36576" rIns="36576">
            <a:spAutoFit/>
          </a:bodyPr>
          <a:lstStyle/>
          <a:p>
            <a:pPr algn="l"/>
            <a:r>
              <a:rPr sz="2700" b="1">
                <a:solidFill>
                  <a:srgbClr val="122745"/>
                </a:solidFill>
                <a:latin typeface="Aptos"/>
              </a:rPr>
              <a:t>Return or transfer custody</a:t>
            </a:r>
          </a:p>
        </p:txBody>
      </p:sp>
      <p:sp>
        <p:nvSpPr>
          <p:cNvPr id="4" name="TextBox 3"/>
          <p:cNvSpPr txBox="1"/>
          <p:nvPr/>
        </p:nvSpPr>
        <p:spPr>
          <a:xfrm>
            <a:off x="621792" y="987552"/>
            <a:ext cx="10698480" cy="347472"/>
          </a:xfrm>
          <a:prstGeom prst="rect">
            <a:avLst/>
          </a:prstGeom>
          <a:noFill/>
        </p:spPr>
        <p:txBody>
          <a:bodyPr wrap="square" lIns="36576" rIns="36576">
            <a:spAutoFit/>
          </a:bodyPr>
          <a:lstStyle/>
          <a:p>
            <a:pPr algn="l"/>
            <a:r>
              <a:rPr sz="1300" b="0">
                <a:solidFill>
                  <a:srgbClr val="5F6E7D"/>
                </a:solidFill>
                <a:latin typeface="Aptos"/>
              </a:rPr>
              <a:t>Use the action that matches what actually happened to the asset.</a:t>
            </a:r>
          </a:p>
        </p:txBody>
      </p:sp>
      <p:sp>
        <p:nvSpPr>
          <p:cNvPr id="5" name="TextBox 4"/>
          <p:cNvSpPr txBox="1"/>
          <p:nvPr/>
        </p:nvSpPr>
        <p:spPr>
          <a:xfrm>
            <a:off x="10149840" y="475488"/>
            <a:ext cx="1417320" cy="256032"/>
          </a:xfrm>
          <a:prstGeom prst="rect">
            <a:avLst/>
          </a:prstGeom>
          <a:noFill/>
        </p:spPr>
        <p:txBody>
          <a:bodyPr wrap="square" lIns="36576" rIns="36576">
            <a:spAutoFit/>
          </a:bodyPr>
          <a:lstStyle/>
          <a:p>
            <a:pPr algn="r"/>
            <a:r>
              <a:rPr sz="900" b="1">
                <a:solidFill>
                  <a:srgbClr val="009196"/>
                </a:solidFill>
                <a:latin typeface="Aptos"/>
              </a:rPr>
              <a:t>WORKFLOW 4</a:t>
            </a:r>
          </a:p>
        </p:txBody>
      </p:sp>
      <p:sp>
        <p:nvSpPr>
          <p:cNvPr id="6" name="Rounded Rectangle 5"/>
          <p:cNvSpPr/>
          <p:nvPr/>
        </p:nvSpPr>
        <p:spPr>
          <a:xfrm>
            <a:off x="868680" y="1691640"/>
            <a:ext cx="4983480" cy="3383280"/>
          </a:xfrm>
          <a:prstGeom prst="roundRect">
            <a:avLst>
              <a:gd name="adj" fmla="val 8000"/>
            </a:avLst>
          </a:prstGeom>
          <a:solidFill>
            <a:srgbClr val="F1F6FA"/>
          </a:solidFill>
          <a:ln>
            <a:solidFill>
              <a:srgbClr val="DC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68680" y="1691640"/>
            <a:ext cx="82296" cy="3383280"/>
          </a:xfrm>
          <a:prstGeom prst="rect">
            <a:avLst/>
          </a:prstGeom>
          <a:solidFill>
            <a:srgbClr val="009196"/>
          </a:solidFill>
          <a:ln>
            <a:solidFill>
              <a:srgbClr val="0091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874520"/>
            <a:ext cx="411480" cy="384048"/>
          </a:xfrm>
          <a:prstGeom prst="rect">
            <a:avLst/>
          </a:prstGeom>
          <a:noFill/>
        </p:spPr>
        <p:txBody>
          <a:bodyPr wrap="square" lIns="36576" rIns="36576">
            <a:spAutoFit/>
          </a:bodyPr>
          <a:lstStyle/>
          <a:p>
            <a:pPr algn="ctr"/>
            <a:r>
              <a:rPr sz="2200" b="1">
                <a:solidFill>
                  <a:srgbClr val="009196"/>
                </a:solidFill>
                <a:latin typeface="Aptos"/>
              </a:rPr>
              <a:t>?</a:t>
            </a:r>
          </a:p>
        </p:txBody>
      </p:sp>
      <p:sp>
        <p:nvSpPr>
          <p:cNvPr id="9" name="TextBox 8"/>
          <p:cNvSpPr txBox="1"/>
          <p:nvPr/>
        </p:nvSpPr>
        <p:spPr>
          <a:xfrm>
            <a:off x="1600200" y="1856232"/>
            <a:ext cx="4069080" cy="320040"/>
          </a:xfrm>
          <a:prstGeom prst="rect">
            <a:avLst/>
          </a:prstGeom>
          <a:noFill/>
        </p:spPr>
        <p:txBody>
          <a:bodyPr wrap="square" lIns="36576" rIns="36576">
            <a:spAutoFit/>
          </a:bodyPr>
          <a:lstStyle/>
          <a:p>
            <a:pPr algn="l"/>
            <a:r>
              <a:rPr sz="1600" b="1">
                <a:solidFill>
                  <a:srgbClr val="122745"/>
                </a:solidFill>
                <a:latin typeface="Aptos"/>
              </a:rPr>
              <a:t>Return Asset</a:t>
            </a:r>
          </a:p>
        </p:txBody>
      </p:sp>
      <p:sp>
        <p:nvSpPr>
          <p:cNvPr id="10" name="TextBox 9"/>
          <p:cNvSpPr txBox="1"/>
          <p:nvPr/>
        </p:nvSpPr>
        <p:spPr>
          <a:xfrm>
            <a:off x="1097280" y="2331720"/>
            <a:ext cx="4526280" cy="2560320"/>
          </a:xfrm>
          <a:prstGeom prst="rect">
            <a:avLst/>
          </a:prstGeom>
          <a:noFill/>
        </p:spPr>
        <p:txBody>
          <a:bodyPr wrap="square" lIns="36576" rIns="36576">
            <a:spAutoFit/>
          </a:bodyPr>
          <a:lstStyle/>
          <a:p>
            <a:pPr algn="l"/>
            <a:r>
              <a:rPr sz="1300" b="0">
                <a:solidFill>
                  <a:srgbClr val="232D3A"/>
                </a:solidFill>
                <a:latin typeface="Aptos"/>
              </a:rPr>
              <a:t>Use when the asset comes back from an employee or site.
1. Open Assignments.
2. Select Return.
3. Enter the return details.
4. Save and verify the assignment is no longer active.</a:t>
            </a:r>
          </a:p>
        </p:txBody>
      </p:sp>
      <p:sp>
        <p:nvSpPr>
          <p:cNvPr id="11" name="Rounded Rectangle 10"/>
          <p:cNvSpPr/>
          <p:nvPr/>
        </p:nvSpPr>
        <p:spPr>
          <a:xfrm>
            <a:off x="6309360" y="1691640"/>
            <a:ext cx="4983480" cy="3383280"/>
          </a:xfrm>
          <a:prstGeom prst="roundRect">
            <a:avLst>
              <a:gd name="adj" fmla="val 8000"/>
            </a:avLst>
          </a:prstGeom>
          <a:solidFill>
            <a:srgbClr val="F1F6FA"/>
          </a:solidFill>
          <a:ln>
            <a:solidFill>
              <a:srgbClr val="DC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309360" y="1691640"/>
            <a:ext cx="82296" cy="3383280"/>
          </a:xfrm>
          <a:prstGeom prst="rect">
            <a:avLst/>
          </a:prstGeom>
          <a:solidFill>
            <a:srgbClr val="EFAE3D"/>
          </a:solidFill>
          <a:ln>
            <a:solidFill>
              <a:srgbClr val="EFAE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37960" y="1874520"/>
            <a:ext cx="411480" cy="384048"/>
          </a:xfrm>
          <a:prstGeom prst="rect">
            <a:avLst/>
          </a:prstGeom>
          <a:noFill/>
        </p:spPr>
        <p:txBody>
          <a:bodyPr wrap="square" lIns="36576" rIns="36576">
            <a:spAutoFit/>
          </a:bodyPr>
          <a:lstStyle/>
          <a:p>
            <a:pPr algn="ctr"/>
            <a:r>
              <a:rPr sz="2200" b="1">
                <a:solidFill>
                  <a:srgbClr val="EFAE3D"/>
                </a:solidFill>
                <a:latin typeface="Aptos"/>
              </a:rPr>
              <a:t>?</a:t>
            </a:r>
          </a:p>
        </p:txBody>
      </p:sp>
      <p:sp>
        <p:nvSpPr>
          <p:cNvPr id="14" name="TextBox 13"/>
          <p:cNvSpPr txBox="1"/>
          <p:nvPr/>
        </p:nvSpPr>
        <p:spPr>
          <a:xfrm>
            <a:off x="7040880" y="1856232"/>
            <a:ext cx="4069080" cy="320040"/>
          </a:xfrm>
          <a:prstGeom prst="rect">
            <a:avLst/>
          </a:prstGeom>
          <a:noFill/>
        </p:spPr>
        <p:txBody>
          <a:bodyPr wrap="square" lIns="36576" rIns="36576">
            <a:spAutoFit/>
          </a:bodyPr>
          <a:lstStyle/>
          <a:p>
            <a:pPr algn="l"/>
            <a:r>
              <a:rPr sz="1600" b="1">
                <a:solidFill>
                  <a:srgbClr val="122745"/>
                </a:solidFill>
                <a:latin typeface="Aptos"/>
              </a:rPr>
              <a:t>Transfer Asset</a:t>
            </a:r>
          </a:p>
        </p:txBody>
      </p:sp>
      <p:sp>
        <p:nvSpPr>
          <p:cNvPr id="15" name="TextBox 14"/>
          <p:cNvSpPr txBox="1"/>
          <p:nvPr/>
        </p:nvSpPr>
        <p:spPr>
          <a:xfrm>
            <a:off x="6537960" y="2331720"/>
            <a:ext cx="4526280" cy="2560320"/>
          </a:xfrm>
          <a:prstGeom prst="rect">
            <a:avLst/>
          </a:prstGeom>
          <a:noFill/>
        </p:spPr>
        <p:txBody>
          <a:bodyPr wrap="square" lIns="36576" rIns="36576">
            <a:spAutoFit/>
          </a:bodyPr>
          <a:lstStyle/>
          <a:p>
            <a:pPr algn="l"/>
            <a:r>
              <a:rPr sz="1300" b="0">
                <a:solidFill>
                  <a:srgbClr val="232D3A"/>
                </a:solidFill>
                <a:latin typeface="Aptos"/>
              </a:rPr>
              <a:t>Use when custody moves directly to another employee or site.
1. Open Transfers or the asset detail page.
2. Select the new target.
3. Enter transfer date and reason.
4. Save and verify the transfer history.</a:t>
            </a:r>
          </a:p>
        </p:txBody>
      </p:sp>
      <p:sp>
        <p:nvSpPr>
          <p:cNvPr id="16" name="Rounded Rectangle 15"/>
          <p:cNvSpPr/>
          <p:nvPr/>
        </p:nvSpPr>
        <p:spPr>
          <a:xfrm>
            <a:off x="960120" y="5486400"/>
            <a:ext cx="10058400" cy="530352"/>
          </a:xfrm>
          <a:prstGeom prst="roundRect">
            <a:avLst>
              <a:gd name="adj" fmla="val 8000"/>
            </a:avLst>
          </a:prstGeom>
          <a:solidFill>
            <a:srgbClr val="F1F6FA"/>
          </a:solidFill>
          <a:ln>
            <a:solidFill>
              <a:srgbClr val="DC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234440" y="5641848"/>
            <a:ext cx="9509760" cy="201168"/>
          </a:xfrm>
          <a:prstGeom prst="rect">
            <a:avLst/>
          </a:prstGeom>
          <a:noFill/>
        </p:spPr>
        <p:txBody>
          <a:bodyPr wrap="square" lIns="36576" rIns="36576">
            <a:spAutoFit/>
          </a:bodyPr>
          <a:lstStyle/>
          <a:p>
            <a:pPr algn="ctr"/>
            <a:r>
              <a:rPr sz="1400" b="1">
                <a:solidFill>
                  <a:srgbClr val="122745"/>
                </a:solidFill>
                <a:latin typeface="Aptos"/>
              </a:rPr>
              <a:t>Always include a clear reason or remark for auditability.</a:t>
            </a:r>
          </a:p>
        </p:txBody>
      </p:sp>
      <p:sp>
        <p:nvSpPr>
          <p:cNvPr id="18" name="Rectangle 17"/>
          <p:cNvSpPr/>
          <p:nvPr/>
        </p:nvSpPr>
        <p:spPr>
          <a:xfrm>
            <a:off x="594360" y="6510528"/>
            <a:ext cx="10972800" cy="10972"/>
          </a:xfrm>
          <a:prstGeom prst="rect">
            <a:avLst/>
          </a:prstGeom>
          <a:solidFill>
            <a:srgbClr val="DCE4EB"/>
          </a:solidFill>
          <a:ln>
            <a:solidFill>
              <a:srgbClr val="DCE4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1792" y="6565392"/>
            <a:ext cx="3200400" cy="164592"/>
          </a:xfrm>
          <a:prstGeom prst="rect">
            <a:avLst/>
          </a:prstGeom>
          <a:noFill/>
        </p:spPr>
        <p:txBody>
          <a:bodyPr wrap="square" lIns="36576" rIns="36576">
            <a:spAutoFit/>
          </a:bodyPr>
          <a:lstStyle/>
          <a:p>
            <a:pPr algn="l"/>
            <a:r>
              <a:rPr sz="800" b="0">
                <a:solidFill>
                  <a:srgbClr val="5F6E7D"/>
                </a:solidFill>
                <a:latin typeface="Aptos"/>
              </a:rPr>
              <a:t>AssetControl user training</a:t>
            </a:r>
          </a:p>
        </p:txBody>
      </p:sp>
      <p:sp>
        <p:nvSpPr>
          <p:cNvPr id="20" name="TextBox 19"/>
          <p:cNvSpPr txBox="1"/>
          <p:nvPr/>
        </p:nvSpPr>
        <p:spPr>
          <a:xfrm>
            <a:off x="10972800" y="6547104"/>
            <a:ext cx="548640" cy="182880"/>
          </a:xfrm>
          <a:prstGeom prst="rect">
            <a:avLst/>
          </a:prstGeom>
          <a:noFill/>
        </p:spPr>
        <p:txBody>
          <a:bodyPr wrap="square" lIns="36576" rIns="36576">
            <a:spAutoFit/>
          </a:bodyPr>
          <a:lstStyle/>
          <a:p>
            <a:pPr algn="r"/>
            <a:r>
              <a:rPr sz="900" b="0">
                <a:solidFill>
                  <a:srgbClr val="5F6E7D"/>
                </a:solidFill>
                <a:latin typeface="Aptos"/>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09196"/>
          </a:solidFill>
          <a:ln>
            <a:solidFill>
              <a:srgbClr val="0091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38912"/>
            <a:ext cx="10789920" cy="502920"/>
          </a:xfrm>
          <a:prstGeom prst="rect">
            <a:avLst/>
          </a:prstGeom>
          <a:noFill/>
        </p:spPr>
        <p:txBody>
          <a:bodyPr wrap="square" lIns="36576" rIns="36576">
            <a:spAutoFit/>
          </a:bodyPr>
          <a:lstStyle/>
          <a:p>
            <a:pPr algn="l"/>
            <a:r>
              <a:rPr sz="2700" b="1">
                <a:solidFill>
                  <a:srgbClr val="122745"/>
                </a:solidFill>
                <a:latin typeface="Aptos"/>
              </a:rPr>
              <a:t>Use history and attachments for evidence</a:t>
            </a:r>
          </a:p>
        </p:txBody>
      </p:sp>
      <p:sp>
        <p:nvSpPr>
          <p:cNvPr id="4" name="TextBox 3"/>
          <p:cNvSpPr txBox="1"/>
          <p:nvPr/>
        </p:nvSpPr>
        <p:spPr>
          <a:xfrm>
            <a:off x="621792" y="987552"/>
            <a:ext cx="10698480" cy="347472"/>
          </a:xfrm>
          <a:prstGeom prst="rect">
            <a:avLst/>
          </a:prstGeom>
          <a:noFill/>
        </p:spPr>
        <p:txBody>
          <a:bodyPr wrap="square" lIns="36576" rIns="36576">
            <a:spAutoFit/>
          </a:bodyPr>
          <a:lstStyle/>
          <a:p>
            <a:pPr algn="l"/>
            <a:r>
              <a:rPr sz="1300" b="0">
                <a:solidFill>
                  <a:srgbClr val="5F6E7D"/>
                </a:solidFill>
                <a:latin typeface="Aptos"/>
              </a:rPr>
              <a:t>The asset detail page brings the record together.</a:t>
            </a:r>
          </a:p>
        </p:txBody>
      </p:sp>
      <p:sp>
        <p:nvSpPr>
          <p:cNvPr id="5" name="TextBox 4"/>
          <p:cNvSpPr txBox="1"/>
          <p:nvPr/>
        </p:nvSpPr>
        <p:spPr>
          <a:xfrm>
            <a:off x="10149840" y="475488"/>
            <a:ext cx="1417320" cy="256032"/>
          </a:xfrm>
          <a:prstGeom prst="rect">
            <a:avLst/>
          </a:prstGeom>
          <a:noFill/>
        </p:spPr>
        <p:txBody>
          <a:bodyPr wrap="square" lIns="36576" rIns="36576">
            <a:spAutoFit/>
          </a:bodyPr>
          <a:lstStyle/>
          <a:p>
            <a:pPr algn="r"/>
            <a:r>
              <a:rPr sz="900" b="1">
                <a:solidFill>
                  <a:srgbClr val="009196"/>
                </a:solidFill>
                <a:latin typeface="Aptos"/>
              </a:rPr>
              <a:t>WORKFLOW 5</a:t>
            </a:r>
          </a:p>
        </p:txBody>
      </p:sp>
      <p:sp>
        <p:nvSpPr>
          <p:cNvPr id="6" name="Rounded Rectangle 5"/>
          <p:cNvSpPr/>
          <p:nvPr/>
        </p:nvSpPr>
        <p:spPr>
          <a:xfrm>
            <a:off x="822960" y="1600200"/>
            <a:ext cx="6400800" cy="4251960"/>
          </a:xfrm>
          <a:prstGeom prst="roundRect">
            <a:avLst>
              <a:gd name="adj" fmla="val 8000"/>
            </a:avLst>
          </a:prstGeom>
          <a:solidFill>
            <a:srgbClr val="FFFFFF"/>
          </a:solidFill>
          <a:ln>
            <a:solidFill>
              <a:srgbClr val="D3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88720" y="1874519"/>
            <a:ext cx="2468880" cy="320040"/>
          </a:xfrm>
          <a:prstGeom prst="rect">
            <a:avLst/>
          </a:prstGeom>
          <a:noFill/>
        </p:spPr>
        <p:txBody>
          <a:bodyPr wrap="square" lIns="36576" rIns="36576">
            <a:spAutoFit/>
          </a:bodyPr>
          <a:lstStyle/>
          <a:p>
            <a:pPr algn="l"/>
            <a:r>
              <a:rPr sz="2200" b="1">
                <a:solidFill>
                  <a:srgbClr val="122745"/>
                </a:solidFill>
                <a:latin typeface="Aptos"/>
              </a:rPr>
              <a:t>AST000123</a:t>
            </a:r>
          </a:p>
        </p:txBody>
      </p:sp>
      <p:sp>
        <p:nvSpPr>
          <p:cNvPr id="8" name="TextBox 7"/>
          <p:cNvSpPr txBox="1"/>
          <p:nvPr/>
        </p:nvSpPr>
        <p:spPr>
          <a:xfrm>
            <a:off x="1188720" y="2267712"/>
            <a:ext cx="2286000" cy="228600"/>
          </a:xfrm>
          <a:prstGeom prst="rect">
            <a:avLst/>
          </a:prstGeom>
          <a:noFill/>
        </p:spPr>
        <p:txBody>
          <a:bodyPr wrap="square" lIns="36576" rIns="36576">
            <a:spAutoFit/>
          </a:bodyPr>
          <a:lstStyle/>
          <a:p>
            <a:pPr algn="l"/>
            <a:r>
              <a:rPr sz="1200" b="0">
                <a:solidFill>
                  <a:srgbClr val="5F6E7D"/>
                </a:solidFill>
                <a:latin typeface="Aptos"/>
              </a:rPr>
              <a:t>Asset Details</a:t>
            </a:r>
          </a:p>
        </p:txBody>
      </p:sp>
      <p:sp>
        <p:nvSpPr>
          <p:cNvPr id="9" name="TextBox 8"/>
          <p:cNvSpPr txBox="1"/>
          <p:nvPr/>
        </p:nvSpPr>
        <p:spPr>
          <a:xfrm>
            <a:off x="1188720" y="2834640"/>
            <a:ext cx="1143000" cy="182880"/>
          </a:xfrm>
          <a:prstGeom prst="rect">
            <a:avLst/>
          </a:prstGeom>
          <a:noFill/>
        </p:spPr>
        <p:txBody>
          <a:bodyPr wrap="square" lIns="36576" rIns="36576">
            <a:spAutoFit/>
          </a:bodyPr>
          <a:lstStyle/>
          <a:p>
            <a:pPr algn="l"/>
            <a:r>
              <a:rPr sz="1000" b="0">
                <a:solidFill>
                  <a:srgbClr val="5F6E7D"/>
                </a:solidFill>
                <a:latin typeface="Aptos"/>
              </a:rPr>
              <a:t>Serial Number</a:t>
            </a:r>
          </a:p>
        </p:txBody>
      </p:sp>
      <p:sp>
        <p:nvSpPr>
          <p:cNvPr id="10" name="TextBox 9"/>
          <p:cNvSpPr txBox="1"/>
          <p:nvPr/>
        </p:nvSpPr>
        <p:spPr>
          <a:xfrm>
            <a:off x="1188720" y="3054096"/>
            <a:ext cx="2011680" cy="228600"/>
          </a:xfrm>
          <a:prstGeom prst="rect">
            <a:avLst/>
          </a:prstGeom>
          <a:noFill/>
        </p:spPr>
        <p:txBody>
          <a:bodyPr wrap="square" lIns="36576" rIns="36576">
            <a:spAutoFit/>
          </a:bodyPr>
          <a:lstStyle/>
          <a:p>
            <a:pPr algn="l"/>
            <a:r>
              <a:rPr sz="1400" b="1">
                <a:solidFill>
                  <a:srgbClr val="232D3A"/>
                </a:solidFill>
                <a:latin typeface="Aptos"/>
              </a:rPr>
              <a:t>SN-4582-XY</a:t>
            </a:r>
          </a:p>
        </p:txBody>
      </p:sp>
      <p:sp>
        <p:nvSpPr>
          <p:cNvPr id="11" name="TextBox 10"/>
          <p:cNvSpPr txBox="1"/>
          <p:nvPr/>
        </p:nvSpPr>
        <p:spPr>
          <a:xfrm>
            <a:off x="3931920" y="2834640"/>
            <a:ext cx="1143000" cy="182880"/>
          </a:xfrm>
          <a:prstGeom prst="rect">
            <a:avLst/>
          </a:prstGeom>
          <a:noFill/>
        </p:spPr>
        <p:txBody>
          <a:bodyPr wrap="square" lIns="36576" rIns="36576">
            <a:spAutoFit/>
          </a:bodyPr>
          <a:lstStyle/>
          <a:p>
            <a:pPr algn="l"/>
            <a:r>
              <a:rPr sz="1000" b="0">
                <a:solidFill>
                  <a:srgbClr val="5F6E7D"/>
                </a:solidFill>
                <a:latin typeface="Aptos"/>
              </a:rPr>
              <a:t>Model</a:t>
            </a:r>
          </a:p>
        </p:txBody>
      </p:sp>
      <p:sp>
        <p:nvSpPr>
          <p:cNvPr id="12" name="TextBox 11"/>
          <p:cNvSpPr txBox="1"/>
          <p:nvPr/>
        </p:nvSpPr>
        <p:spPr>
          <a:xfrm>
            <a:off x="3931920" y="3054096"/>
            <a:ext cx="2011680" cy="228600"/>
          </a:xfrm>
          <a:prstGeom prst="rect">
            <a:avLst/>
          </a:prstGeom>
          <a:noFill/>
        </p:spPr>
        <p:txBody>
          <a:bodyPr wrap="square" lIns="36576" rIns="36576">
            <a:spAutoFit/>
          </a:bodyPr>
          <a:lstStyle/>
          <a:p>
            <a:pPr algn="l"/>
            <a:r>
              <a:rPr sz="1400" b="1">
                <a:solidFill>
                  <a:srgbClr val="232D3A"/>
                </a:solidFill>
                <a:latin typeface="Aptos"/>
              </a:rPr>
              <a:t>ThinkPad T14</a:t>
            </a:r>
          </a:p>
        </p:txBody>
      </p:sp>
      <p:sp>
        <p:nvSpPr>
          <p:cNvPr id="13" name="TextBox 12"/>
          <p:cNvSpPr txBox="1"/>
          <p:nvPr/>
        </p:nvSpPr>
        <p:spPr>
          <a:xfrm>
            <a:off x="1188720" y="3611880"/>
            <a:ext cx="1143000" cy="182880"/>
          </a:xfrm>
          <a:prstGeom prst="rect">
            <a:avLst/>
          </a:prstGeom>
          <a:noFill/>
        </p:spPr>
        <p:txBody>
          <a:bodyPr wrap="square" lIns="36576" rIns="36576">
            <a:spAutoFit/>
          </a:bodyPr>
          <a:lstStyle/>
          <a:p>
            <a:pPr algn="l"/>
            <a:r>
              <a:rPr sz="1000" b="0">
                <a:solidFill>
                  <a:srgbClr val="5F6E7D"/>
                </a:solidFill>
                <a:latin typeface="Aptos"/>
              </a:rPr>
              <a:t>Condition</a:t>
            </a:r>
          </a:p>
        </p:txBody>
      </p:sp>
      <p:sp>
        <p:nvSpPr>
          <p:cNvPr id="14" name="TextBox 13"/>
          <p:cNvSpPr txBox="1"/>
          <p:nvPr/>
        </p:nvSpPr>
        <p:spPr>
          <a:xfrm>
            <a:off x="1188720" y="3831336"/>
            <a:ext cx="2011680" cy="228600"/>
          </a:xfrm>
          <a:prstGeom prst="rect">
            <a:avLst/>
          </a:prstGeom>
          <a:noFill/>
        </p:spPr>
        <p:txBody>
          <a:bodyPr wrap="square" lIns="36576" rIns="36576">
            <a:spAutoFit/>
          </a:bodyPr>
          <a:lstStyle/>
          <a:p>
            <a:pPr algn="l"/>
            <a:r>
              <a:rPr sz="1400" b="1">
                <a:solidFill>
                  <a:srgbClr val="232D3A"/>
                </a:solidFill>
                <a:latin typeface="Aptos"/>
              </a:rPr>
              <a:t>Good</a:t>
            </a:r>
          </a:p>
        </p:txBody>
      </p:sp>
      <p:sp>
        <p:nvSpPr>
          <p:cNvPr id="15" name="TextBox 14"/>
          <p:cNvSpPr txBox="1"/>
          <p:nvPr/>
        </p:nvSpPr>
        <p:spPr>
          <a:xfrm>
            <a:off x="3931920" y="3611880"/>
            <a:ext cx="1143000" cy="182880"/>
          </a:xfrm>
          <a:prstGeom prst="rect">
            <a:avLst/>
          </a:prstGeom>
          <a:noFill/>
        </p:spPr>
        <p:txBody>
          <a:bodyPr wrap="square" lIns="36576" rIns="36576">
            <a:spAutoFit/>
          </a:bodyPr>
          <a:lstStyle/>
          <a:p>
            <a:pPr algn="l"/>
            <a:r>
              <a:rPr sz="1000" b="0">
                <a:solidFill>
                  <a:srgbClr val="5F6E7D"/>
                </a:solidFill>
                <a:latin typeface="Aptos"/>
              </a:rPr>
              <a:t>Active</a:t>
            </a:r>
          </a:p>
        </p:txBody>
      </p:sp>
      <p:sp>
        <p:nvSpPr>
          <p:cNvPr id="16" name="TextBox 15"/>
          <p:cNvSpPr txBox="1"/>
          <p:nvPr/>
        </p:nvSpPr>
        <p:spPr>
          <a:xfrm>
            <a:off x="3931920" y="3831336"/>
            <a:ext cx="2011680" cy="228600"/>
          </a:xfrm>
          <a:prstGeom prst="rect">
            <a:avLst/>
          </a:prstGeom>
          <a:noFill/>
        </p:spPr>
        <p:txBody>
          <a:bodyPr wrap="square" lIns="36576" rIns="36576">
            <a:spAutoFit/>
          </a:bodyPr>
          <a:lstStyle/>
          <a:p>
            <a:pPr algn="l"/>
            <a:r>
              <a:rPr sz="1400" b="1">
                <a:solidFill>
                  <a:srgbClr val="232D3A"/>
                </a:solidFill>
                <a:latin typeface="Aptos"/>
              </a:rPr>
              <a:t>Yes</a:t>
            </a:r>
          </a:p>
        </p:txBody>
      </p:sp>
      <p:sp>
        <p:nvSpPr>
          <p:cNvPr id="17" name="Rounded Rectangle 16"/>
          <p:cNvSpPr/>
          <p:nvPr/>
        </p:nvSpPr>
        <p:spPr>
          <a:xfrm>
            <a:off x="1188720" y="4709160"/>
            <a:ext cx="5394960" cy="594360"/>
          </a:xfrm>
          <a:prstGeom prst="roundRect">
            <a:avLst>
              <a:gd name="adj" fmla="val 8000"/>
            </a:avLst>
          </a:prstGeom>
          <a:solidFill>
            <a:srgbClr val="EDF8F1"/>
          </a:solidFill>
          <a:ln>
            <a:solidFill>
              <a:srgbClr val="B8E0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417320" y="4901184"/>
            <a:ext cx="4846320" cy="201168"/>
          </a:xfrm>
          <a:prstGeom prst="rect">
            <a:avLst/>
          </a:prstGeom>
          <a:noFill/>
        </p:spPr>
        <p:txBody>
          <a:bodyPr wrap="square" lIns="36576" rIns="36576">
            <a:spAutoFit/>
          </a:bodyPr>
          <a:lstStyle/>
          <a:p>
            <a:pPr algn="l"/>
            <a:r>
              <a:rPr sz="1400" b="1">
                <a:solidFill>
                  <a:srgbClr val="009196"/>
                </a:solidFill>
                <a:latin typeface="Aptos"/>
              </a:rPr>
              <a:t>History  |  Attachments</a:t>
            </a:r>
          </a:p>
        </p:txBody>
      </p:sp>
      <p:sp>
        <p:nvSpPr>
          <p:cNvPr id="19" name="Rounded Rectangle 18"/>
          <p:cNvSpPr/>
          <p:nvPr/>
        </p:nvSpPr>
        <p:spPr>
          <a:xfrm>
            <a:off x="7635240" y="1600200"/>
            <a:ext cx="3520440" cy="1234440"/>
          </a:xfrm>
          <a:prstGeom prst="roundRect">
            <a:avLst>
              <a:gd name="adj" fmla="val 8000"/>
            </a:avLst>
          </a:prstGeom>
          <a:solidFill>
            <a:srgbClr val="F1F6FA"/>
          </a:solidFill>
          <a:ln>
            <a:solidFill>
              <a:srgbClr val="DC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635240" y="1600200"/>
            <a:ext cx="82296" cy="1234440"/>
          </a:xfrm>
          <a:prstGeom prst="rect">
            <a:avLst/>
          </a:prstGeom>
          <a:solidFill>
            <a:srgbClr val="2669AB"/>
          </a:solidFill>
          <a:ln>
            <a:solidFill>
              <a:srgbClr val="2669A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863840" y="1764792"/>
            <a:ext cx="3063240" cy="320040"/>
          </a:xfrm>
          <a:prstGeom prst="rect">
            <a:avLst/>
          </a:prstGeom>
          <a:noFill/>
        </p:spPr>
        <p:txBody>
          <a:bodyPr wrap="square" lIns="36576" rIns="36576">
            <a:spAutoFit/>
          </a:bodyPr>
          <a:lstStyle/>
          <a:p>
            <a:pPr algn="l"/>
            <a:r>
              <a:rPr sz="1600" b="1">
                <a:solidFill>
                  <a:srgbClr val="122745"/>
                </a:solidFill>
                <a:latin typeface="Aptos"/>
              </a:rPr>
              <a:t>History</a:t>
            </a:r>
          </a:p>
        </p:txBody>
      </p:sp>
      <p:sp>
        <p:nvSpPr>
          <p:cNvPr id="22" name="TextBox 21"/>
          <p:cNvSpPr txBox="1"/>
          <p:nvPr/>
        </p:nvSpPr>
        <p:spPr>
          <a:xfrm>
            <a:off x="7863840" y="2240280"/>
            <a:ext cx="3063240" cy="411480"/>
          </a:xfrm>
          <a:prstGeom prst="rect">
            <a:avLst/>
          </a:prstGeom>
          <a:noFill/>
        </p:spPr>
        <p:txBody>
          <a:bodyPr wrap="square" lIns="36576" rIns="36576">
            <a:spAutoFit/>
          </a:bodyPr>
          <a:lstStyle/>
          <a:p>
            <a:pPr algn="l"/>
            <a:r>
              <a:rPr sz="1300" b="0">
                <a:solidFill>
                  <a:srgbClr val="232D3A"/>
                </a:solidFill>
                <a:latin typeface="Aptos"/>
              </a:rPr>
              <a:t>Review assignments, returns and transfers over time.</a:t>
            </a:r>
          </a:p>
        </p:txBody>
      </p:sp>
      <p:sp>
        <p:nvSpPr>
          <p:cNvPr id="23" name="Rounded Rectangle 22"/>
          <p:cNvSpPr/>
          <p:nvPr/>
        </p:nvSpPr>
        <p:spPr>
          <a:xfrm>
            <a:off x="7635240" y="3063240"/>
            <a:ext cx="3520440" cy="1234440"/>
          </a:xfrm>
          <a:prstGeom prst="roundRect">
            <a:avLst>
              <a:gd name="adj" fmla="val 8000"/>
            </a:avLst>
          </a:prstGeom>
          <a:solidFill>
            <a:srgbClr val="F1F6FA"/>
          </a:solidFill>
          <a:ln>
            <a:solidFill>
              <a:srgbClr val="DC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635240" y="3063240"/>
            <a:ext cx="82296" cy="1234440"/>
          </a:xfrm>
          <a:prstGeom prst="rect">
            <a:avLst/>
          </a:prstGeom>
          <a:solidFill>
            <a:srgbClr val="009196"/>
          </a:solidFill>
          <a:ln>
            <a:solidFill>
              <a:srgbClr val="0091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863840" y="3227832"/>
            <a:ext cx="3063240" cy="320040"/>
          </a:xfrm>
          <a:prstGeom prst="rect">
            <a:avLst/>
          </a:prstGeom>
          <a:noFill/>
        </p:spPr>
        <p:txBody>
          <a:bodyPr wrap="square" lIns="36576" rIns="36576">
            <a:spAutoFit/>
          </a:bodyPr>
          <a:lstStyle/>
          <a:p>
            <a:pPr algn="l"/>
            <a:r>
              <a:rPr sz="1600" b="1">
                <a:solidFill>
                  <a:srgbClr val="122745"/>
                </a:solidFill>
                <a:latin typeface="Aptos"/>
              </a:rPr>
              <a:t>Attachments</a:t>
            </a:r>
          </a:p>
        </p:txBody>
      </p:sp>
      <p:sp>
        <p:nvSpPr>
          <p:cNvPr id="26" name="TextBox 25"/>
          <p:cNvSpPr txBox="1"/>
          <p:nvPr/>
        </p:nvSpPr>
        <p:spPr>
          <a:xfrm>
            <a:off x="7863840" y="3703320"/>
            <a:ext cx="3063240" cy="411480"/>
          </a:xfrm>
          <a:prstGeom prst="rect">
            <a:avLst/>
          </a:prstGeom>
          <a:noFill/>
        </p:spPr>
        <p:txBody>
          <a:bodyPr wrap="square" lIns="36576" rIns="36576">
            <a:spAutoFit/>
          </a:bodyPr>
          <a:lstStyle/>
          <a:p>
            <a:pPr algn="l"/>
            <a:r>
              <a:rPr sz="1300" b="0">
                <a:solidFill>
                  <a:srgbClr val="232D3A"/>
                </a:solidFill>
                <a:latin typeface="Aptos"/>
              </a:rPr>
              <a:t>Keep invoices, delivery notes or supporting files with the asset.</a:t>
            </a:r>
          </a:p>
        </p:txBody>
      </p:sp>
      <p:sp>
        <p:nvSpPr>
          <p:cNvPr id="27" name="Rounded Rectangle 26"/>
          <p:cNvSpPr/>
          <p:nvPr/>
        </p:nvSpPr>
        <p:spPr>
          <a:xfrm>
            <a:off x="7635240" y="4526280"/>
            <a:ext cx="3520440" cy="1234440"/>
          </a:xfrm>
          <a:prstGeom prst="roundRect">
            <a:avLst>
              <a:gd name="adj" fmla="val 8000"/>
            </a:avLst>
          </a:prstGeom>
          <a:solidFill>
            <a:srgbClr val="F1F6FA"/>
          </a:solidFill>
          <a:ln>
            <a:solidFill>
              <a:srgbClr val="DC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635240" y="4526280"/>
            <a:ext cx="82296" cy="1234440"/>
          </a:xfrm>
          <a:prstGeom prst="rect">
            <a:avLst/>
          </a:prstGeom>
          <a:solidFill>
            <a:srgbClr val="EFAE3D"/>
          </a:solidFill>
          <a:ln>
            <a:solidFill>
              <a:srgbClr val="EFAE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863840" y="4690872"/>
            <a:ext cx="3063240" cy="320040"/>
          </a:xfrm>
          <a:prstGeom prst="rect">
            <a:avLst/>
          </a:prstGeom>
          <a:noFill/>
        </p:spPr>
        <p:txBody>
          <a:bodyPr wrap="square" lIns="36576" rIns="36576">
            <a:spAutoFit/>
          </a:bodyPr>
          <a:lstStyle/>
          <a:p>
            <a:pPr algn="l"/>
            <a:r>
              <a:rPr sz="1600" b="1">
                <a:solidFill>
                  <a:srgbClr val="122745"/>
                </a:solidFill>
                <a:latin typeface="Aptos"/>
              </a:rPr>
              <a:t>Toolbar actions</a:t>
            </a:r>
          </a:p>
        </p:txBody>
      </p:sp>
      <p:sp>
        <p:nvSpPr>
          <p:cNvPr id="30" name="TextBox 29"/>
          <p:cNvSpPr txBox="1"/>
          <p:nvPr/>
        </p:nvSpPr>
        <p:spPr>
          <a:xfrm>
            <a:off x="7863840" y="5166360"/>
            <a:ext cx="3063240" cy="411480"/>
          </a:xfrm>
          <a:prstGeom prst="rect">
            <a:avLst/>
          </a:prstGeom>
          <a:noFill/>
        </p:spPr>
        <p:txBody>
          <a:bodyPr wrap="square" lIns="36576" rIns="36576">
            <a:spAutoFit/>
          </a:bodyPr>
          <a:lstStyle/>
          <a:p>
            <a:pPr algn="l"/>
            <a:r>
              <a:rPr sz="1300" b="0">
                <a:solidFill>
                  <a:srgbClr val="232D3A"/>
                </a:solidFill>
                <a:latin typeface="Aptos"/>
              </a:rPr>
              <a:t>Edit, Back, Transfer and History depend on access rights.</a:t>
            </a:r>
          </a:p>
        </p:txBody>
      </p:sp>
      <p:sp>
        <p:nvSpPr>
          <p:cNvPr id="31" name="Rectangle 30"/>
          <p:cNvSpPr/>
          <p:nvPr/>
        </p:nvSpPr>
        <p:spPr>
          <a:xfrm>
            <a:off x="594360" y="6510528"/>
            <a:ext cx="10972800" cy="10972"/>
          </a:xfrm>
          <a:prstGeom prst="rect">
            <a:avLst/>
          </a:prstGeom>
          <a:solidFill>
            <a:srgbClr val="DCE4EB"/>
          </a:solidFill>
          <a:ln>
            <a:solidFill>
              <a:srgbClr val="DCE4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21792" y="6565392"/>
            <a:ext cx="3200400" cy="164592"/>
          </a:xfrm>
          <a:prstGeom prst="rect">
            <a:avLst/>
          </a:prstGeom>
          <a:noFill/>
        </p:spPr>
        <p:txBody>
          <a:bodyPr wrap="square" lIns="36576" rIns="36576">
            <a:spAutoFit/>
          </a:bodyPr>
          <a:lstStyle/>
          <a:p>
            <a:pPr algn="l"/>
            <a:r>
              <a:rPr sz="800" b="0">
                <a:solidFill>
                  <a:srgbClr val="5F6E7D"/>
                </a:solidFill>
                <a:latin typeface="Aptos"/>
              </a:rPr>
              <a:t>AssetControl user training</a:t>
            </a:r>
          </a:p>
        </p:txBody>
      </p:sp>
      <p:sp>
        <p:nvSpPr>
          <p:cNvPr id="33" name="TextBox 32"/>
          <p:cNvSpPr txBox="1"/>
          <p:nvPr/>
        </p:nvSpPr>
        <p:spPr>
          <a:xfrm>
            <a:off x="10972800" y="6547104"/>
            <a:ext cx="548640" cy="182880"/>
          </a:xfrm>
          <a:prstGeom prst="rect">
            <a:avLst/>
          </a:prstGeom>
          <a:noFill/>
        </p:spPr>
        <p:txBody>
          <a:bodyPr wrap="square" lIns="36576" rIns="36576">
            <a:spAutoFit/>
          </a:bodyPr>
          <a:lstStyle/>
          <a:p>
            <a:pPr algn="r"/>
            <a:r>
              <a:rPr sz="900" b="0">
                <a:solidFill>
                  <a:srgbClr val="5F6E7D"/>
                </a:solidFill>
                <a:latin typeface="Aptos"/>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09196"/>
          </a:solidFill>
          <a:ln>
            <a:solidFill>
              <a:srgbClr val="0091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38912"/>
            <a:ext cx="10789920" cy="502920"/>
          </a:xfrm>
          <a:prstGeom prst="rect">
            <a:avLst/>
          </a:prstGeom>
          <a:noFill/>
        </p:spPr>
        <p:txBody>
          <a:bodyPr wrap="square" lIns="36576" rIns="36576">
            <a:spAutoFit/>
          </a:bodyPr>
          <a:lstStyle/>
          <a:p>
            <a:pPr algn="l"/>
            <a:r>
              <a:rPr sz="2700" b="1">
                <a:solidFill>
                  <a:srgbClr val="122745"/>
                </a:solidFill>
                <a:latin typeface="Aptos"/>
              </a:rPr>
              <a:t>Bulk updates, import and export</a:t>
            </a:r>
          </a:p>
        </p:txBody>
      </p:sp>
      <p:sp>
        <p:nvSpPr>
          <p:cNvPr id="4" name="TextBox 3"/>
          <p:cNvSpPr txBox="1"/>
          <p:nvPr/>
        </p:nvSpPr>
        <p:spPr>
          <a:xfrm>
            <a:off x="621792" y="987552"/>
            <a:ext cx="10698480" cy="347472"/>
          </a:xfrm>
          <a:prstGeom prst="rect">
            <a:avLst/>
          </a:prstGeom>
          <a:noFill/>
        </p:spPr>
        <p:txBody>
          <a:bodyPr wrap="square" lIns="36576" rIns="36576">
            <a:spAutoFit/>
          </a:bodyPr>
          <a:lstStyle/>
          <a:p>
            <a:pPr algn="l"/>
            <a:r>
              <a:rPr sz="1300" b="0">
                <a:solidFill>
                  <a:srgbClr val="5F6E7D"/>
                </a:solidFill>
                <a:latin typeface="Aptos"/>
              </a:rPr>
              <a:t>Use faster tools carefully and validate the result.</a:t>
            </a:r>
          </a:p>
        </p:txBody>
      </p:sp>
      <p:sp>
        <p:nvSpPr>
          <p:cNvPr id="5" name="TextBox 4"/>
          <p:cNvSpPr txBox="1"/>
          <p:nvPr/>
        </p:nvSpPr>
        <p:spPr>
          <a:xfrm>
            <a:off x="10149840" y="475488"/>
            <a:ext cx="1417320" cy="256032"/>
          </a:xfrm>
          <a:prstGeom prst="rect">
            <a:avLst/>
          </a:prstGeom>
          <a:noFill/>
        </p:spPr>
        <p:txBody>
          <a:bodyPr wrap="square" lIns="36576" rIns="36576">
            <a:spAutoFit/>
          </a:bodyPr>
          <a:lstStyle/>
          <a:p>
            <a:pPr algn="r"/>
            <a:r>
              <a:rPr sz="900" b="1">
                <a:solidFill>
                  <a:srgbClr val="009196"/>
                </a:solidFill>
                <a:latin typeface="Aptos"/>
              </a:rPr>
              <a:t>EFFICIENCY</a:t>
            </a:r>
          </a:p>
        </p:txBody>
      </p:sp>
      <p:sp>
        <p:nvSpPr>
          <p:cNvPr id="6" name="Rounded Rectangle 5"/>
          <p:cNvSpPr/>
          <p:nvPr/>
        </p:nvSpPr>
        <p:spPr>
          <a:xfrm>
            <a:off x="822960" y="1645920"/>
            <a:ext cx="3337560" cy="3337560"/>
          </a:xfrm>
          <a:prstGeom prst="roundRect">
            <a:avLst>
              <a:gd name="adj" fmla="val 8000"/>
            </a:avLst>
          </a:prstGeom>
          <a:solidFill>
            <a:srgbClr val="F1F6FA"/>
          </a:solidFill>
          <a:ln>
            <a:solidFill>
              <a:srgbClr val="DC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22960" y="1645920"/>
            <a:ext cx="82296" cy="3337560"/>
          </a:xfrm>
          <a:prstGeom prst="rect">
            <a:avLst/>
          </a:prstGeom>
          <a:solidFill>
            <a:srgbClr val="2669AB"/>
          </a:solidFill>
          <a:ln>
            <a:solidFill>
              <a:srgbClr val="2669A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1828800"/>
            <a:ext cx="411480" cy="384048"/>
          </a:xfrm>
          <a:prstGeom prst="rect">
            <a:avLst/>
          </a:prstGeom>
          <a:noFill/>
        </p:spPr>
        <p:txBody>
          <a:bodyPr wrap="square" lIns="36576" rIns="36576">
            <a:spAutoFit/>
          </a:bodyPr>
          <a:lstStyle/>
          <a:p>
            <a:pPr algn="ctr"/>
            <a:r>
              <a:rPr sz="2200" b="1">
                <a:solidFill>
                  <a:srgbClr val="2669AB"/>
                </a:solidFill>
                <a:latin typeface="Aptos"/>
              </a:rPr>
              <a:t>?</a:t>
            </a:r>
          </a:p>
        </p:txBody>
      </p:sp>
      <p:sp>
        <p:nvSpPr>
          <p:cNvPr id="9" name="TextBox 8"/>
          <p:cNvSpPr txBox="1"/>
          <p:nvPr/>
        </p:nvSpPr>
        <p:spPr>
          <a:xfrm>
            <a:off x="1554480" y="1810512"/>
            <a:ext cx="2423160" cy="320040"/>
          </a:xfrm>
          <a:prstGeom prst="rect">
            <a:avLst/>
          </a:prstGeom>
          <a:noFill/>
        </p:spPr>
        <p:txBody>
          <a:bodyPr wrap="square" lIns="36576" rIns="36576">
            <a:spAutoFit/>
          </a:bodyPr>
          <a:lstStyle/>
          <a:p>
            <a:pPr algn="l"/>
            <a:r>
              <a:rPr sz="1600" b="1">
                <a:solidFill>
                  <a:srgbClr val="122745"/>
                </a:solidFill>
                <a:latin typeface="Aptos"/>
              </a:rPr>
              <a:t>Bulk status update</a:t>
            </a:r>
          </a:p>
        </p:txBody>
      </p:sp>
      <p:sp>
        <p:nvSpPr>
          <p:cNvPr id="10" name="TextBox 9"/>
          <p:cNvSpPr txBox="1"/>
          <p:nvPr/>
        </p:nvSpPr>
        <p:spPr>
          <a:xfrm>
            <a:off x="1051560" y="2286000"/>
            <a:ext cx="2880360" cy="2514600"/>
          </a:xfrm>
          <a:prstGeom prst="rect">
            <a:avLst/>
          </a:prstGeom>
          <a:noFill/>
        </p:spPr>
        <p:txBody>
          <a:bodyPr wrap="square" lIns="36576" rIns="36576">
            <a:spAutoFit/>
          </a:bodyPr>
          <a:lstStyle/>
          <a:p>
            <a:pPr algn="l"/>
            <a:r>
              <a:rPr sz="1300" b="0">
                <a:solidFill>
                  <a:srgbClr val="232D3A"/>
                </a:solidFill>
                <a:latin typeface="Aptos"/>
              </a:rPr>
              <a:t>1. Select rows in the list.
2. Choose Set active or Set inactive.
3. Select Update status.
4. Clear selection when finished.</a:t>
            </a:r>
          </a:p>
        </p:txBody>
      </p:sp>
      <p:sp>
        <p:nvSpPr>
          <p:cNvPr id="11" name="Rounded Rectangle 10"/>
          <p:cNvSpPr/>
          <p:nvPr/>
        </p:nvSpPr>
        <p:spPr>
          <a:xfrm>
            <a:off x="4434840" y="1645920"/>
            <a:ext cx="3337560" cy="3337560"/>
          </a:xfrm>
          <a:prstGeom prst="roundRect">
            <a:avLst>
              <a:gd name="adj" fmla="val 8000"/>
            </a:avLst>
          </a:prstGeom>
          <a:solidFill>
            <a:srgbClr val="F1F6FA"/>
          </a:solidFill>
          <a:ln>
            <a:solidFill>
              <a:srgbClr val="DC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434840" y="1645920"/>
            <a:ext cx="82296" cy="3337560"/>
          </a:xfrm>
          <a:prstGeom prst="rect">
            <a:avLst/>
          </a:prstGeom>
          <a:solidFill>
            <a:srgbClr val="009196"/>
          </a:solidFill>
          <a:ln>
            <a:solidFill>
              <a:srgbClr val="0091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63440" y="1828800"/>
            <a:ext cx="411480" cy="384048"/>
          </a:xfrm>
          <a:prstGeom prst="rect">
            <a:avLst/>
          </a:prstGeom>
          <a:noFill/>
        </p:spPr>
        <p:txBody>
          <a:bodyPr wrap="square" lIns="36576" rIns="36576">
            <a:spAutoFit/>
          </a:bodyPr>
          <a:lstStyle/>
          <a:p>
            <a:pPr algn="ctr"/>
            <a:r>
              <a:rPr sz="2200" b="1">
                <a:solidFill>
                  <a:srgbClr val="009196"/>
                </a:solidFill>
                <a:latin typeface="Aptos"/>
              </a:rPr>
              <a:t>?</a:t>
            </a:r>
          </a:p>
        </p:txBody>
      </p:sp>
      <p:sp>
        <p:nvSpPr>
          <p:cNvPr id="14" name="TextBox 13"/>
          <p:cNvSpPr txBox="1"/>
          <p:nvPr/>
        </p:nvSpPr>
        <p:spPr>
          <a:xfrm>
            <a:off x="5166359" y="1810512"/>
            <a:ext cx="2423160" cy="320040"/>
          </a:xfrm>
          <a:prstGeom prst="rect">
            <a:avLst/>
          </a:prstGeom>
          <a:noFill/>
        </p:spPr>
        <p:txBody>
          <a:bodyPr wrap="square" lIns="36576" rIns="36576">
            <a:spAutoFit/>
          </a:bodyPr>
          <a:lstStyle/>
          <a:p>
            <a:pPr algn="l"/>
            <a:r>
              <a:rPr sz="1600" b="1">
                <a:solidFill>
                  <a:srgbClr val="122745"/>
                </a:solidFill>
                <a:latin typeface="Aptos"/>
              </a:rPr>
              <a:t>Import assets</a:t>
            </a:r>
          </a:p>
        </p:txBody>
      </p:sp>
      <p:sp>
        <p:nvSpPr>
          <p:cNvPr id="15" name="TextBox 14"/>
          <p:cNvSpPr txBox="1"/>
          <p:nvPr/>
        </p:nvSpPr>
        <p:spPr>
          <a:xfrm>
            <a:off x="4663440" y="2286000"/>
            <a:ext cx="2880360" cy="2514600"/>
          </a:xfrm>
          <a:prstGeom prst="rect">
            <a:avLst/>
          </a:prstGeom>
          <a:noFill/>
        </p:spPr>
        <p:txBody>
          <a:bodyPr wrap="square" lIns="36576" rIns="36576">
            <a:spAutoFit/>
          </a:bodyPr>
          <a:lstStyle/>
          <a:p>
            <a:pPr algn="l"/>
            <a:r>
              <a:rPr sz="1300" b="0">
                <a:solidFill>
                  <a:srgbClr val="232D3A"/>
                </a:solidFill>
                <a:latin typeface="Aptos"/>
              </a:rPr>
              <a:t>Use Import when loading multiple records. Prepare clean source data and check required identifiers before submitting.</a:t>
            </a:r>
          </a:p>
        </p:txBody>
      </p:sp>
      <p:sp>
        <p:nvSpPr>
          <p:cNvPr id="16" name="Rounded Rectangle 15"/>
          <p:cNvSpPr/>
          <p:nvPr/>
        </p:nvSpPr>
        <p:spPr>
          <a:xfrm>
            <a:off x="8046720" y="1645920"/>
            <a:ext cx="3337560" cy="3337560"/>
          </a:xfrm>
          <a:prstGeom prst="roundRect">
            <a:avLst>
              <a:gd name="adj" fmla="val 8000"/>
            </a:avLst>
          </a:prstGeom>
          <a:solidFill>
            <a:srgbClr val="F1F6FA"/>
          </a:solidFill>
          <a:ln>
            <a:solidFill>
              <a:srgbClr val="DC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46720" y="1645920"/>
            <a:ext cx="82296" cy="3337560"/>
          </a:xfrm>
          <a:prstGeom prst="rect">
            <a:avLst/>
          </a:prstGeom>
          <a:solidFill>
            <a:srgbClr val="EFAE3D"/>
          </a:solidFill>
          <a:ln>
            <a:solidFill>
              <a:srgbClr val="EFAE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75320" y="1828800"/>
            <a:ext cx="411480" cy="384048"/>
          </a:xfrm>
          <a:prstGeom prst="rect">
            <a:avLst/>
          </a:prstGeom>
          <a:noFill/>
        </p:spPr>
        <p:txBody>
          <a:bodyPr wrap="square" lIns="36576" rIns="36576">
            <a:spAutoFit/>
          </a:bodyPr>
          <a:lstStyle/>
          <a:p>
            <a:pPr algn="ctr"/>
            <a:r>
              <a:rPr sz="2200" b="1">
                <a:solidFill>
                  <a:srgbClr val="EFAE3D"/>
                </a:solidFill>
                <a:latin typeface="Aptos"/>
              </a:rPr>
              <a:t>?</a:t>
            </a:r>
          </a:p>
        </p:txBody>
      </p:sp>
      <p:sp>
        <p:nvSpPr>
          <p:cNvPr id="19" name="TextBox 18"/>
          <p:cNvSpPr txBox="1"/>
          <p:nvPr/>
        </p:nvSpPr>
        <p:spPr>
          <a:xfrm>
            <a:off x="8778240" y="1810512"/>
            <a:ext cx="2423160" cy="320040"/>
          </a:xfrm>
          <a:prstGeom prst="rect">
            <a:avLst/>
          </a:prstGeom>
          <a:noFill/>
        </p:spPr>
        <p:txBody>
          <a:bodyPr wrap="square" lIns="36576" rIns="36576">
            <a:spAutoFit/>
          </a:bodyPr>
          <a:lstStyle/>
          <a:p>
            <a:pPr algn="l"/>
            <a:r>
              <a:rPr sz="1600" b="1">
                <a:solidFill>
                  <a:srgbClr val="122745"/>
                </a:solidFill>
                <a:latin typeface="Aptos"/>
              </a:rPr>
              <a:t>Export assets</a:t>
            </a:r>
          </a:p>
        </p:txBody>
      </p:sp>
      <p:sp>
        <p:nvSpPr>
          <p:cNvPr id="20" name="TextBox 19"/>
          <p:cNvSpPr txBox="1"/>
          <p:nvPr/>
        </p:nvSpPr>
        <p:spPr>
          <a:xfrm>
            <a:off x="8275320" y="2286000"/>
            <a:ext cx="2880360" cy="2514600"/>
          </a:xfrm>
          <a:prstGeom prst="rect">
            <a:avLst/>
          </a:prstGeom>
          <a:noFill/>
        </p:spPr>
        <p:txBody>
          <a:bodyPr wrap="square" lIns="36576" rIns="36576">
            <a:spAutoFit/>
          </a:bodyPr>
          <a:lstStyle/>
          <a:p>
            <a:pPr algn="l"/>
            <a:r>
              <a:rPr sz="1300" b="0">
                <a:solidFill>
                  <a:srgbClr val="232D3A"/>
                </a:solidFill>
                <a:latin typeface="Aptos"/>
              </a:rPr>
              <a:t>Use Export to download a working set for reporting or reconciliation. Treat exported data as controlled information.</a:t>
            </a:r>
          </a:p>
        </p:txBody>
      </p:sp>
      <p:sp>
        <p:nvSpPr>
          <p:cNvPr id="21" name="Rounded Rectangle 20"/>
          <p:cNvSpPr/>
          <p:nvPr/>
        </p:nvSpPr>
        <p:spPr>
          <a:xfrm>
            <a:off x="914400" y="5440680"/>
            <a:ext cx="10149840" cy="530352"/>
          </a:xfrm>
          <a:prstGeom prst="roundRect">
            <a:avLst>
              <a:gd name="adj" fmla="val 8000"/>
            </a:avLst>
          </a:prstGeom>
          <a:solidFill>
            <a:srgbClr val="FFF4F4"/>
          </a:solidFill>
          <a:ln>
            <a:solidFill>
              <a:srgbClr val="EEC3C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188720" y="5605272"/>
            <a:ext cx="9601200" cy="201168"/>
          </a:xfrm>
          <a:prstGeom prst="rect">
            <a:avLst/>
          </a:prstGeom>
          <a:noFill/>
        </p:spPr>
        <p:txBody>
          <a:bodyPr wrap="square" lIns="36576" rIns="36576">
            <a:spAutoFit/>
          </a:bodyPr>
          <a:lstStyle/>
          <a:p>
            <a:pPr algn="ctr"/>
            <a:r>
              <a:rPr sz="1400" b="1">
                <a:solidFill>
                  <a:srgbClr val="BE4646"/>
                </a:solidFill>
                <a:latin typeface="Aptos"/>
              </a:rPr>
              <a:t>Before bulk actions: filter to the intended records and double-check the selected count.</a:t>
            </a:r>
          </a:p>
        </p:txBody>
      </p:sp>
      <p:sp>
        <p:nvSpPr>
          <p:cNvPr id="23" name="Rectangle 22"/>
          <p:cNvSpPr/>
          <p:nvPr/>
        </p:nvSpPr>
        <p:spPr>
          <a:xfrm>
            <a:off x="594360" y="6510528"/>
            <a:ext cx="10972800" cy="10972"/>
          </a:xfrm>
          <a:prstGeom prst="rect">
            <a:avLst/>
          </a:prstGeom>
          <a:solidFill>
            <a:srgbClr val="DCE4EB"/>
          </a:solidFill>
          <a:ln>
            <a:solidFill>
              <a:srgbClr val="DCE4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21792" y="6565392"/>
            <a:ext cx="3200400" cy="164592"/>
          </a:xfrm>
          <a:prstGeom prst="rect">
            <a:avLst/>
          </a:prstGeom>
          <a:noFill/>
        </p:spPr>
        <p:txBody>
          <a:bodyPr wrap="square" lIns="36576" rIns="36576">
            <a:spAutoFit/>
          </a:bodyPr>
          <a:lstStyle/>
          <a:p>
            <a:pPr algn="l"/>
            <a:r>
              <a:rPr sz="800" b="0">
                <a:solidFill>
                  <a:srgbClr val="5F6E7D"/>
                </a:solidFill>
                <a:latin typeface="Aptos"/>
              </a:rPr>
              <a:t>AssetControl user training</a:t>
            </a:r>
          </a:p>
        </p:txBody>
      </p:sp>
      <p:sp>
        <p:nvSpPr>
          <p:cNvPr id="25" name="TextBox 24"/>
          <p:cNvSpPr txBox="1"/>
          <p:nvPr/>
        </p:nvSpPr>
        <p:spPr>
          <a:xfrm>
            <a:off x="10972800" y="6547104"/>
            <a:ext cx="548640" cy="182880"/>
          </a:xfrm>
          <a:prstGeom prst="rect">
            <a:avLst/>
          </a:prstGeom>
          <a:noFill/>
        </p:spPr>
        <p:txBody>
          <a:bodyPr wrap="square" lIns="36576" rIns="36576">
            <a:spAutoFit/>
          </a:bodyPr>
          <a:lstStyle/>
          <a:p>
            <a:pPr algn="r"/>
            <a:r>
              <a:rPr sz="900" b="0">
                <a:solidFill>
                  <a:srgbClr val="5F6E7D"/>
                </a:solidFill>
                <a:latin typeface="Aptos"/>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09196"/>
          </a:solidFill>
          <a:ln>
            <a:solidFill>
              <a:srgbClr val="0091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38912"/>
            <a:ext cx="10789920" cy="502920"/>
          </a:xfrm>
          <a:prstGeom prst="rect">
            <a:avLst/>
          </a:prstGeom>
          <a:noFill/>
        </p:spPr>
        <p:txBody>
          <a:bodyPr wrap="square" lIns="36576" rIns="36576">
            <a:spAutoFit/>
          </a:bodyPr>
          <a:lstStyle/>
          <a:p>
            <a:pPr algn="l"/>
            <a:r>
              <a:rPr sz="2700" b="1">
                <a:solidFill>
                  <a:srgbClr val="122745"/>
                </a:solidFill>
                <a:latin typeface="Aptos"/>
              </a:rPr>
              <a:t>Daily checklist and support</a:t>
            </a:r>
          </a:p>
        </p:txBody>
      </p:sp>
      <p:sp>
        <p:nvSpPr>
          <p:cNvPr id="4" name="TextBox 3"/>
          <p:cNvSpPr txBox="1"/>
          <p:nvPr/>
        </p:nvSpPr>
        <p:spPr>
          <a:xfrm>
            <a:off x="621792" y="987552"/>
            <a:ext cx="10698480" cy="347472"/>
          </a:xfrm>
          <a:prstGeom prst="rect">
            <a:avLst/>
          </a:prstGeom>
          <a:noFill/>
        </p:spPr>
        <p:txBody>
          <a:bodyPr wrap="square" lIns="36576" rIns="36576">
            <a:spAutoFit/>
          </a:bodyPr>
          <a:lstStyle/>
          <a:p>
            <a:pPr algn="l"/>
            <a:r>
              <a:rPr sz="1300" b="0">
                <a:solidFill>
                  <a:srgbClr val="5F6E7D"/>
                </a:solidFill>
                <a:latin typeface="Aptos"/>
              </a:rPr>
              <a:t>A simple routine keeps the register trustworthy.</a:t>
            </a:r>
          </a:p>
        </p:txBody>
      </p:sp>
      <p:sp>
        <p:nvSpPr>
          <p:cNvPr id="5" name="TextBox 4"/>
          <p:cNvSpPr txBox="1"/>
          <p:nvPr/>
        </p:nvSpPr>
        <p:spPr>
          <a:xfrm>
            <a:off x="10149840" y="475488"/>
            <a:ext cx="1417320" cy="256032"/>
          </a:xfrm>
          <a:prstGeom prst="rect">
            <a:avLst/>
          </a:prstGeom>
          <a:noFill/>
        </p:spPr>
        <p:txBody>
          <a:bodyPr wrap="square" lIns="36576" rIns="36576">
            <a:spAutoFit/>
          </a:bodyPr>
          <a:lstStyle/>
          <a:p>
            <a:pPr algn="r"/>
            <a:r>
              <a:rPr sz="900" b="1">
                <a:solidFill>
                  <a:srgbClr val="009196"/>
                </a:solidFill>
                <a:latin typeface="Aptos"/>
              </a:rPr>
              <a:t>WRAP-UP</a:t>
            </a:r>
          </a:p>
        </p:txBody>
      </p:sp>
      <p:sp>
        <p:nvSpPr>
          <p:cNvPr id="6" name="Rounded Rectangle 5"/>
          <p:cNvSpPr/>
          <p:nvPr/>
        </p:nvSpPr>
        <p:spPr>
          <a:xfrm>
            <a:off x="868680" y="1417320"/>
            <a:ext cx="347472" cy="347472"/>
          </a:xfrm>
          <a:prstGeom prst="roundRect">
            <a:avLst>
              <a:gd name="adj" fmla="val 8000"/>
            </a:avLst>
          </a:prstGeom>
          <a:solidFill>
            <a:srgbClr val="2669AB"/>
          </a:solidFill>
          <a:ln>
            <a:solidFill>
              <a:srgbClr val="2669A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50976" y="1490472"/>
            <a:ext cx="182880" cy="164592"/>
          </a:xfrm>
          <a:prstGeom prst="rect">
            <a:avLst/>
          </a:prstGeom>
          <a:noFill/>
        </p:spPr>
        <p:txBody>
          <a:bodyPr wrap="square" lIns="36576" rIns="36576">
            <a:spAutoFit/>
          </a:bodyPr>
          <a:lstStyle/>
          <a:p>
            <a:pPr algn="ctr"/>
            <a:r>
              <a:rPr sz="1100" b="1">
                <a:solidFill>
                  <a:srgbClr val="FFFFFF"/>
                </a:solidFill>
                <a:latin typeface="Aptos"/>
              </a:rPr>
              <a:t>1</a:t>
            </a:r>
          </a:p>
        </p:txBody>
      </p:sp>
      <p:sp>
        <p:nvSpPr>
          <p:cNvPr id="8" name="TextBox 7"/>
          <p:cNvSpPr txBox="1"/>
          <p:nvPr/>
        </p:nvSpPr>
        <p:spPr>
          <a:xfrm>
            <a:off x="1417320" y="1426464"/>
            <a:ext cx="2103120" cy="228600"/>
          </a:xfrm>
          <a:prstGeom prst="rect">
            <a:avLst/>
          </a:prstGeom>
          <a:noFill/>
        </p:spPr>
        <p:txBody>
          <a:bodyPr wrap="square" lIns="36576" rIns="36576">
            <a:spAutoFit/>
          </a:bodyPr>
          <a:lstStyle/>
          <a:p>
            <a:pPr algn="l"/>
            <a:r>
              <a:rPr sz="1400" b="1">
                <a:solidFill>
                  <a:srgbClr val="122745"/>
                </a:solidFill>
                <a:latin typeface="Aptos"/>
              </a:rPr>
              <a:t>Before creating</a:t>
            </a:r>
          </a:p>
        </p:txBody>
      </p:sp>
      <p:sp>
        <p:nvSpPr>
          <p:cNvPr id="9" name="TextBox 8"/>
          <p:cNvSpPr txBox="1"/>
          <p:nvPr/>
        </p:nvSpPr>
        <p:spPr>
          <a:xfrm>
            <a:off x="3474720" y="1426464"/>
            <a:ext cx="7680960" cy="320040"/>
          </a:xfrm>
          <a:prstGeom prst="rect">
            <a:avLst/>
          </a:prstGeom>
          <a:noFill/>
        </p:spPr>
        <p:txBody>
          <a:bodyPr wrap="square" lIns="36576" rIns="36576">
            <a:spAutoFit/>
          </a:bodyPr>
          <a:lstStyle/>
          <a:p>
            <a:pPr algn="l"/>
            <a:r>
              <a:rPr sz="1300" b="0">
                <a:solidFill>
                  <a:srgbClr val="232D3A"/>
                </a:solidFill>
                <a:latin typeface="Aptos"/>
              </a:rPr>
              <a:t>Search by serial number and confirm the asset does not already exist.</a:t>
            </a:r>
          </a:p>
        </p:txBody>
      </p:sp>
      <p:sp>
        <p:nvSpPr>
          <p:cNvPr id="10" name="Rounded Rectangle 9"/>
          <p:cNvSpPr/>
          <p:nvPr/>
        </p:nvSpPr>
        <p:spPr>
          <a:xfrm>
            <a:off x="868680" y="2176272"/>
            <a:ext cx="347472" cy="347472"/>
          </a:xfrm>
          <a:prstGeom prst="roundRect">
            <a:avLst>
              <a:gd name="adj" fmla="val 8000"/>
            </a:avLst>
          </a:prstGeom>
          <a:solidFill>
            <a:srgbClr val="009196"/>
          </a:solidFill>
          <a:ln>
            <a:solidFill>
              <a:srgbClr val="0091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50976" y="2249424"/>
            <a:ext cx="182880" cy="164592"/>
          </a:xfrm>
          <a:prstGeom prst="rect">
            <a:avLst/>
          </a:prstGeom>
          <a:noFill/>
        </p:spPr>
        <p:txBody>
          <a:bodyPr wrap="square" lIns="36576" rIns="36576">
            <a:spAutoFit/>
          </a:bodyPr>
          <a:lstStyle/>
          <a:p>
            <a:pPr algn="ctr"/>
            <a:r>
              <a:rPr sz="1100" b="1">
                <a:solidFill>
                  <a:srgbClr val="FFFFFF"/>
                </a:solidFill>
                <a:latin typeface="Aptos"/>
              </a:rPr>
              <a:t>2</a:t>
            </a:r>
          </a:p>
        </p:txBody>
      </p:sp>
      <p:sp>
        <p:nvSpPr>
          <p:cNvPr id="12" name="TextBox 11"/>
          <p:cNvSpPr txBox="1"/>
          <p:nvPr/>
        </p:nvSpPr>
        <p:spPr>
          <a:xfrm>
            <a:off x="1417320" y="2185415"/>
            <a:ext cx="2103120" cy="228600"/>
          </a:xfrm>
          <a:prstGeom prst="rect">
            <a:avLst/>
          </a:prstGeom>
          <a:noFill/>
        </p:spPr>
        <p:txBody>
          <a:bodyPr wrap="square" lIns="36576" rIns="36576">
            <a:spAutoFit/>
          </a:bodyPr>
          <a:lstStyle/>
          <a:p>
            <a:pPr algn="l"/>
            <a:r>
              <a:rPr sz="1400" b="1">
                <a:solidFill>
                  <a:srgbClr val="122745"/>
                </a:solidFill>
                <a:latin typeface="Aptos"/>
              </a:rPr>
              <a:t>After receiving</a:t>
            </a:r>
          </a:p>
        </p:txBody>
      </p:sp>
      <p:sp>
        <p:nvSpPr>
          <p:cNvPr id="13" name="TextBox 12"/>
          <p:cNvSpPr txBox="1"/>
          <p:nvPr/>
        </p:nvSpPr>
        <p:spPr>
          <a:xfrm>
            <a:off x="3474720" y="2185415"/>
            <a:ext cx="7680960" cy="320040"/>
          </a:xfrm>
          <a:prstGeom prst="rect">
            <a:avLst/>
          </a:prstGeom>
          <a:noFill/>
        </p:spPr>
        <p:txBody>
          <a:bodyPr wrap="square" lIns="36576" rIns="36576">
            <a:spAutoFit/>
          </a:bodyPr>
          <a:lstStyle/>
          <a:p>
            <a:pPr algn="l"/>
            <a:r>
              <a:rPr sz="1300" b="0">
                <a:solidFill>
                  <a:srgbClr val="232D3A"/>
                </a:solidFill>
                <a:latin typeface="Aptos"/>
              </a:rPr>
              <a:t>Register the asset and verify country, model, condition and received date.</a:t>
            </a:r>
          </a:p>
        </p:txBody>
      </p:sp>
      <p:sp>
        <p:nvSpPr>
          <p:cNvPr id="14" name="Rounded Rectangle 13"/>
          <p:cNvSpPr/>
          <p:nvPr/>
        </p:nvSpPr>
        <p:spPr>
          <a:xfrm>
            <a:off x="868680" y="2935224"/>
            <a:ext cx="347472" cy="347472"/>
          </a:xfrm>
          <a:prstGeom prst="roundRect">
            <a:avLst>
              <a:gd name="adj" fmla="val 8000"/>
            </a:avLst>
          </a:prstGeom>
          <a:solidFill>
            <a:srgbClr val="EFAE3D"/>
          </a:solidFill>
          <a:ln>
            <a:solidFill>
              <a:srgbClr val="EFAE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50976" y="3008376"/>
            <a:ext cx="182880" cy="164592"/>
          </a:xfrm>
          <a:prstGeom prst="rect">
            <a:avLst/>
          </a:prstGeom>
          <a:noFill/>
        </p:spPr>
        <p:txBody>
          <a:bodyPr wrap="square" lIns="36576" rIns="36576">
            <a:spAutoFit/>
          </a:bodyPr>
          <a:lstStyle/>
          <a:p>
            <a:pPr algn="ctr"/>
            <a:r>
              <a:rPr sz="1100" b="1">
                <a:solidFill>
                  <a:srgbClr val="FFFFFF"/>
                </a:solidFill>
                <a:latin typeface="Aptos"/>
              </a:rPr>
              <a:t>3</a:t>
            </a:r>
          </a:p>
        </p:txBody>
      </p:sp>
      <p:sp>
        <p:nvSpPr>
          <p:cNvPr id="16" name="TextBox 15"/>
          <p:cNvSpPr txBox="1"/>
          <p:nvPr/>
        </p:nvSpPr>
        <p:spPr>
          <a:xfrm>
            <a:off x="1417320" y="2944368"/>
            <a:ext cx="2103120" cy="228600"/>
          </a:xfrm>
          <a:prstGeom prst="rect">
            <a:avLst/>
          </a:prstGeom>
          <a:noFill/>
        </p:spPr>
        <p:txBody>
          <a:bodyPr wrap="square" lIns="36576" rIns="36576">
            <a:spAutoFit/>
          </a:bodyPr>
          <a:lstStyle/>
          <a:p>
            <a:pPr algn="l"/>
            <a:r>
              <a:rPr sz="1400" b="1">
                <a:solidFill>
                  <a:srgbClr val="122745"/>
                </a:solidFill>
                <a:latin typeface="Aptos"/>
              </a:rPr>
              <a:t>After handover</a:t>
            </a:r>
          </a:p>
        </p:txBody>
      </p:sp>
      <p:sp>
        <p:nvSpPr>
          <p:cNvPr id="17" name="TextBox 16"/>
          <p:cNvSpPr txBox="1"/>
          <p:nvPr/>
        </p:nvSpPr>
        <p:spPr>
          <a:xfrm>
            <a:off x="3474720" y="2944368"/>
            <a:ext cx="7680960" cy="320040"/>
          </a:xfrm>
          <a:prstGeom prst="rect">
            <a:avLst/>
          </a:prstGeom>
          <a:noFill/>
        </p:spPr>
        <p:txBody>
          <a:bodyPr wrap="square" lIns="36576" rIns="36576">
            <a:spAutoFit/>
          </a:bodyPr>
          <a:lstStyle/>
          <a:p>
            <a:pPr algn="l"/>
            <a:r>
              <a:rPr sz="1300" b="0">
                <a:solidFill>
                  <a:srgbClr val="232D3A"/>
                </a:solidFill>
                <a:latin typeface="Aptos"/>
              </a:rPr>
              <a:t>Create or update the assignment with the correct person/site and date.</a:t>
            </a:r>
          </a:p>
        </p:txBody>
      </p:sp>
      <p:sp>
        <p:nvSpPr>
          <p:cNvPr id="18" name="Rounded Rectangle 17"/>
          <p:cNvSpPr/>
          <p:nvPr/>
        </p:nvSpPr>
        <p:spPr>
          <a:xfrm>
            <a:off x="868680" y="3694176"/>
            <a:ext cx="347472" cy="347472"/>
          </a:xfrm>
          <a:prstGeom prst="roundRect">
            <a:avLst>
              <a:gd name="adj" fmla="val 8000"/>
            </a:avLst>
          </a:prstGeom>
          <a:solidFill>
            <a:srgbClr val="2E8C57"/>
          </a:solidFill>
          <a:ln>
            <a:solidFill>
              <a:srgbClr val="2E8C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50976" y="3767328"/>
            <a:ext cx="182880" cy="164592"/>
          </a:xfrm>
          <a:prstGeom prst="rect">
            <a:avLst/>
          </a:prstGeom>
          <a:noFill/>
        </p:spPr>
        <p:txBody>
          <a:bodyPr wrap="square" lIns="36576" rIns="36576">
            <a:spAutoFit/>
          </a:bodyPr>
          <a:lstStyle/>
          <a:p>
            <a:pPr algn="ctr"/>
            <a:r>
              <a:rPr sz="1100" b="1">
                <a:solidFill>
                  <a:srgbClr val="FFFFFF"/>
                </a:solidFill>
                <a:latin typeface="Aptos"/>
              </a:rPr>
              <a:t>4</a:t>
            </a:r>
          </a:p>
        </p:txBody>
      </p:sp>
      <p:sp>
        <p:nvSpPr>
          <p:cNvPr id="20" name="TextBox 19"/>
          <p:cNvSpPr txBox="1"/>
          <p:nvPr/>
        </p:nvSpPr>
        <p:spPr>
          <a:xfrm>
            <a:off x="1417320" y="3703320"/>
            <a:ext cx="2103120" cy="228600"/>
          </a:xfrm>
          <a:prstGeom prst="rect">
            <a:avLst/>
          </a:prstGeom>
          <a:noFill/>
        </p:spPr>
        <p:txBody>
          <a:bodyPr wrap="square" lIns="36576" rIns="36576">
            <a:spAutoFit/>
          </a:bodyPr>
          <a:lstStyle/>
          <a:p>
            <a:pPr algn="l"/>
            <a:r>
              <a:rPr sz="1400" b="1">
                <a:solidFill>
                  <a:srgbClr val="122745"/>
                </a:solidFill>
                <a:latin typeface="Aptos"/>
              </a:rPr>
              <a:t>After movement</a:t>
            </a:r>
          </a:p>
        </p:txBody>
      </p:sp>
      <p:sp>
        <p:nvSpPr>
          <p:cNvPr id="21" name="TextBox 20"/>
          <p:cNvSpPr txBox="1"/>
          <p:nvPr/>
        </p:nvSpPr>
        <p:spPr>
          <a:xfrm>
            <a:off x="3474720" y="3703320"/>
            <a:ext cx="7680960" cy="320040"/>
          </a:xfrm>
          <a:prstGeom prst="rect">
            <a:avLst/>
          </a:prstGeom>
          <a:noFill/>
        </p:spPr>
        <p:txBody>
          <a:bodyPr wrap="square" lIns="36576" rIns="36576">
            <a:spAutoFit/>
          </a:bodyPr>
          <a:lstStyle/>
          <a:p>
            <a:pPr algn="l"/>
            <a:r>
              <a:rPr sz="1300" b="0">
                <a:solidFill>
                  <a:srgbClr val="232D3A"/>
                </a:solidFill>
                <a:latin typeface="Aptos"/>
              </a:rPr>
              <a:t>Record a transfer, return or maintenance-related change immediately.</a:t>
            </a:r>
          </a:p>
        </p:txBody>
      </p:sp>
      <p:sp>
        <p:nvSpPr>
          <p:cNvPr id="22" name="Rounded Rectangle 21"/>
          <p:cNvSpPr/>
          <p:nvPr/>
        </p:nvSpPr>
        <p:spPr>
          <a:xfrm>
            <a:off x="868680" y="4453128"/>
            <a:ext cx="347472" cy="347472"/>
          </a:xfrm>
          <a:prstGeom prst="roundRect">
            <a:avLst>
              <a:gd name="adj" fmla="val 8000"/>
            </a:avLst>
          </a:prstGeom>
          <a:solidFill>
            <a:srgbClr val="122745"/>
          </a:solidFill>
          <a:ln>
            <a:solidFill>
              <a:srgbClr val="1227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50976" y="4526280"/>
            <a:ext cx="182880" cy="164592"/>
          </a:xfrm>
          <a:prstGeom prst="rect">
            <a:avLst/>
          </a:prstGeom>
          <a:noFill/>
        </p:spPr>
        <p:txBody>
          <a:bodyPr wrap="square" lIns="36576" rIns="36576">
            <a:spAutoFit/>
          </a:bodyPr>
          <a:lstStyle/>
          <a:p>
            <a:pPr algn="ctr"/>
            <a:r>
              <a:rPr sz="1100" b="1">
                <a:solidFill>
                  <a:srgbClr val="FFFFFF"/>
                </a:solidFill>
                <a:latin typeface="Aptos"/>
              </a:rPr>
              <a:t>5</a:t>
            </a:r>
          </a:p>
        </p:txBody>
      </p:sp>
      <p:sp>
        <p:nvSpPr>
          <p:cNvPr id="24" name="TextBox 23"/>
          <p:cNvSpPr txBox="1"/>
          <p:nvPr/>
        </p:nvSpPr>
        <p:spPr>
          <a:xfrm>
            <a:off x="1417320" y="4462272"/>
            <a:ext cx="2103120" cy="228600"/>
          </a:xfrm>
          <a:prstGeom prst="rect">
            <a:avLst/>
          </a:prstGeom>
          <a:noFill/>
        </p:spPr>
        <p:txBody>
          <a:bodyPr wrap="square" lIns="36576" rIns="36576">
            <a:spAutoFit/>
          </a:bodyPr>
          <a:lstStyle/>
          <a:p>
            <a:pPr algn="l"/>
            <a:r>
              <a:rPr sz="1400" b="1">
                <a:solidFill>
                  <a:srgbClr val="122745"/>
                </a:solidFill>
                <a:latin typeface="Aptos"/>
              </a:rPr>
              <a:t>Before finishing</a:t>
            </a:r>
          </a:p>
        </p:txBody>
      </p:sp>
      <p:sp>
        <p:nvSpPr>
          <p:cNvPr id="25" name="TextBox 24"/>
          <p:cNvSpPr txBox="1"/>
          <p:nvPr/>
        </p:nvSpPr>
        <p:spPr>
          <a:xfrm>
            <a:off x="3474720" y="4462272"/>
            <a:ext cx="7680960" cy="320040"/>
          </a:xfrm>
          <a:prstGeom prst="rect">
            <a:avLst/>
          </a:prstGeom>
          <a:noFill/>
        </p:spPr>
        <p:txBody>
          <a:bodyPr wrap="square" lIns="36576" rIns="36576">
            <a:spAutoFit/>
          </a:bodyPr>
          <a:lstStyle/>
          <a:p>
            <a:pPr algn="l"/>
            <a:r>
              <a:rPr sz="1300" b="0">
                <a:solidFill>
                  <a:srgbClr val="232D3A"/>
                </a:solidFill>
                <a:latin typeface="Aptos"/>
              </a:rPr>
              <a:t>Open the detail page and confirm the record, history and attachments.</a:t>
            </a:r>
          </a:p>
        </p:txBody>
      </p:sp>
      <p:sp>
        <p:nvSpPr>
          <p:cNvPr id="26" name="Rounded Rectangle 25"/>
          <p:cNvSpPr/>
          <p:nvPr/>
        </p:nvSpPr>
        <p:spPr>
          <a:xfrm>
            <a:off x="914400" y="5532120"/>
            <a:ext cx="10149840" cy="566928"/>
          </a:xfrm>
          <a:prstGeom prst="roundRect">
            <a:avLst>
              <a:gd name="adj" fmla="val 8000"/>
            </a:avLst>
          </a:prstGeom>
          <a:solidFill>
            <a:srgbClr val="F1F6FA"/>
          </a:solidFill>
          <a:ln>
            <a:solidFill>
              <a:srgbClr val="DC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143000" y="5696712"/>
            <a:ext cx="9692640" cy="201168"/>
          </a:xfrm>
          <a:prstGeom prst="rect">
            <a:avLst/>
          </a:prstGeom>
          <a:noFill/>
        </p:spPr>
        <p:txBody>
          <a:bodyPr wrap="square" lIns="36576" rIns="36576">
            <a:spAutoFit/>
          </a:bodyPr>
          <a:lstStyle/>
          <a:p>
            <a:pPr algn="ctr"/>
            <a:r>
              <a:rPr sz="1300" b="1">
                <a:solidFill>
                  <a:srgbClr val="009196"/>
                </a:solidFill>
                <a:latin typeface="Aptos"/>
              </a:rPr>
              <a:t>If an action is missing, it may be restricted by your permissions. Contact your AssetControl administrator.</a:t>
            </a:r>
          </a:p>
        </p:txBody>
      </p:sp>
      <p:sp>
        <p:nvSpPr>
          <p:cNvPr id="28" name="Rectangle 27"/>
          <p:cNvSpPr/>
          <p:nvPr/>
        </p:nvSpPr>
        <p:spPr>
          <a:xfrm>
            <a:off x="594360" y="6510528"/>
            <a:ext cx="10972800" cy="10972"/>
          </a:xfrm>
          <a:prstGeom prst="rect">
            <a:avLst/>
          </a:prstGeom>
          <a:solidFill>
            <a:srgbClr val="DCE4EB"/>
          </a:solidFill>
          <a:ln>
            <a:solidFill>
              <a:srgbClr val="DCE4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21792" y="6565392"/>
            <a:ext cx="3200400" cy="164592"/>
          </a:xfrm>
          <a:prstGeom prst="rect">
            <a:avLst/>
          </a:prstGeom>
          <a:noFill/>
        </p:spPr>
        <p:txBody>
          <a:bodyPr wrap="square" lIns="36576" rIns="36576">
            <a:spAutoFit/>
          </a:bodyPr>
          <a:lstStyle/>
          <a:p>
            <a:pPr algn="l"/>
            <a:r>
              <a:rPr sz="800" b="0">
                <a:solidFill>
                  <a:srgbClr val="5F6E7D"/>
                </a:solidFill>
                <a:latin typeface="Aptos"/>
              </a:rPr>
              <a:t>AssetControl user training</a:t>
            </a:r>
          </a:p>
        </p:txBody>
      </p:sp>
      <p:sp>
        <p:nvSpPr>
          <p:cNvPr id="30" name="TextBox 29"/>
          <p:cNvSpPr txBox="1"/>
          <p:nvPr/>
        </p:nvSpPr>
        <p:spPr>
          <a:xfrm>
            <a:off x="10972800" y="6547104"/>
            <a:ext cx="548640" cy="182880"/>
          </a:xfrm>
          <a:prstGeom prst="rect">
            <a:avLst/>
          </a:prstGeom>
          <a:noFill/>
        </p:spPr>
        <p:txBody>
          <a:bodyPr wrap="square" lIns="36576" rIns="36576">
            <a:spAutoFit/>
          </a:bodyPr>
          <a:lstStyle/>
          <a:p>
            <a:pPr algn="r"/>
            <a:r>
              <a:rPr sz="900" b="0">
                <a:solidFill>
                  <a:srgbClr val="5F6E7D"/>
                </a:solidFill>
                <a:latin typeface="Aptos"/>
              </a:rPr>
              <a:t>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AssetControl User Training</dc:title>
  <dc:subject>End-user training for asset lifecycle management</dc:subject>
  <dc:creator>AssetControl</dc:creator>
  <cp:keywords>assets, registration, assignment, transfer, training</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